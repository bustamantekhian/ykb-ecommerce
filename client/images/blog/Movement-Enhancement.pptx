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
  </p:notesMasterIdLst>
  <p:sldIdLst>
    <p:sldId id="257" r:id="rId2"/>
    <p:sldId id="340" r:id="rId3"/>
    <p:sldId id="341" r:id="rId4"/>
    <p:sldId id="259" r:id="rId5"/>
    <p:sldId id="318" r:id="rId6"/>
    <p:sldId id="319" r:id="rId7"/>
    <p:sldId id="258" r:id="rId8"/>
    <p:sldId id="262" r:id="rId9"/>
    <p:sldId id="264" r:id="rId10"/>
    <p:sldId id="338" r:id="rId11"/>
    <p:sldId id="266" r:id="rId12"/>
    <p:sldId id="339" r:id="rId13"/>
    <p:sldId id="34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TM26EC7.1-MARY ANN BOBIER" initials="LMAB" lastIdx="1" clrIdx="0">
    <p:extLst>
      <p:ext uri="{19B8F6BF-5375-455C-9EA6-DF929625EA0E}">
        <p15:presenceInfo xmlns:p15="http://schemas.microsoft.com/office/powerpoint/2012/main" userId="S::9487754029@cbrclet.com.ph::4b646093-3bb4-4f15-b90e-26e296489b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842" autoAdjust="0"/>
  </p:normalViewPr>
  <p:slideViewPr>
    <p:cSldViewPr snapToGrid="0">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8-19T10:56:24.694" idx="1">
    <p:pos x="10" y="10"/>
    <p:text>Criteria</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21676F-E36E-44F7-A7C8-840BCBE292D2}" type="datetimeFigureOut">
              <a:rPr lang="en-PH" smtClean="0"/>
              <a:t>8/19/26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C16FE-4638-4D62-9A47-8EF397854B98}" type="slidenum">
              <a:rPr lang="en-PH" smtClean="0"/>
              <a:t>‹#›</a:t>
            </a:fld>
            <a:endParaRPr lang="en-PH"/>
          </a:p>
        </p:txBody>
      </p:sp>
    </p:spTree>
    <p:extLst>
      <p:ext uri="{BB962C8B-B14F-4D97-AF65-F5344CB8AC3E}">
        <p14:creationId xmlns:p14="http://schemas.microsoft.com/office/powerpoint/2010/main" val="3455234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257B33F8-E1AA-48BB-8E6E-5AD947476C58}" type="slidenum">
              <a:rPr lang="en-PH" smtClean="0"/>
              <a:t>1</a:t>
            </a:fld>
            <a:endParaRPr lang="en-PH"/>
          </a:p>
        </p:txBody>
      </p:sp>
    </p:spTree>
    <p:extLst>
      <p:ext uri="{BB962C8B-B14F-4D97-AF65-F5344CB8AC3E}">
        <p14:creationId xmlns:p14="http://schemas.microsoft.com/office/powerpoint/2010/main" val="1387254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57B33F8-E1AA-48BB-8E6E-5AD947476C58}" type="slidenum">
              <a:rPr lang="en-PH" smtClean="0"/>
              <a:t>5</a:t>
            </a:fld>
            <a:endParaRPr lang="en-PH"/>
          </a:p>
        </p:txBody>
      </p:sp>
    </p:spTree>
    <p:extLst>
      <p:ext uri="{BB962C8B-B14F-4D97-AF65-F5344CB8AC3E}">
        <p14:creationId xmlns:p14="http://schemas.microsoft.com/office/powerpoint/2010/main" val="1134485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57B33F8-E1AA-48BB-8E6E-5AD947476C58}" type="slidenum">
              <a:rPr lang="en-PH" smtClean="0"/>
              <a:t>6</a:t>
            </a:fld>
            <a:endParaRPr lang="en-PH"/>
          </a:p>
        </p:txBody>
      </p:sp>
    </p:spTree>
    <p:extLst>
      <p:ext uri="{BB962C8B-B14F-4D97-AF65-F5344CB8AC3E}">
        <p14:creationId xmlns:p14="http://schemas.microsoft.com/office/powerpoint/2010/main" val="3176684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57B33F8-E1AA-48BB-8E6E-5AD947476C58}" type="slidenum">
              <a:rPr lang="en-PH" smtClean="0"/>
              <a:t>7</a:t>
            </a:fld>
            <a:endParaRPr lang="en-PH"/>
          </a:p>
        </p:txBody>
      </p:sp>
    </p:spTree>
    <p:extLst>
      <p:ext uri="{BB962C8B-B14F-4D97-AF65-F5344CB8AC3E}">
        <p14:creationId xmlns:p14="http://schemas.microsoft.com/office/powerpoint/2010/main" val="3601990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57B33F8-E1AA-48BB-8E6E-5AD947476C58}" type="slidenum">
              <a:rPr lang="en-PH" smtClean="0"/>
              <a:t>8</a:t>
            </a:fld>
            <a:endParaRPr lang="en-PH"/>
          </a:p>
        </p:txBody>
      </p:sp>
    </p:spTree>
    <p:extLst>
      <p:ext uri="{BB962C8B-B14F-4D97-AF65-F5344CB8AC3E}">
        <p14:creationId xmlns:p14="http://schemas.microsoft.com/office/powerpoint/2010/main" val="216794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57B33F8-E1AA-48BB-8E6E-5AD947476C58}" type="slidenum">
              <a:rPr lang="en-PH" smtClean="0"/>
              <a:t>9</a:t>
            </a:fld>
            <a:endParaRPr lang="en-PH"/>
          </a:p>
        </p:txBody>
      </p:sp>
    </p:spTree>
    <p:extLst>
      <p:ext uri="{BB962C8B-B14F-4D97-AF65-F5344CB8AC3E}">
        <p14:creationId xmlns:p14="http://schemas.microsoft.com/office/powerpoint/2010/main" val="2656978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57B33F8-E1AA-48BB-8E6E-5AD947476C58}" type="slidenum">
              <a:rPr lang="en-PH" smtClean="0"/>
              <a:t>10</a:t>
            </a:fld>
            <a:endParaRPr lang="en-PH"/>
          </a:p>
        </p:txBody>
      </p:sp>
    </p:spTree>
    <p:extLst>
      <p:ext uri="{BB962C8B-B14F-4D97-AF65-F5344CB8AC3E}">
        <p14:creationId xmlns:p14="http://schemas.microsoft.com/office/powerpoint/2010/main" val="309529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57B33F8-E1AA-48BB-8E6E-5AD947476C58}" type="slidenum">
              <a:rPr lang="en-PH" smtClean="0"/>
              <a:t>11</a:t>
            </a:fld>
            <a:endParaRPr lang="en-PH"/>
          </a:p>
        </p:txBody>
      </p:sp>
    </p:spTree>
    <p:extLst>
      <p:ext uri="{BB962C8B-B14F-4D97-AF65-F5344CB8AC3E}">
        <p14:creationId xmlns:p14="http://schemas.microsoft.com/office/powerpoint/2010/main" val="2919100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ounded Rectangle 9"/>
          <p:cNvSpPr/>
          <p:nvPr/>
        </p:nvSpPr>
        <p:spPr>
          <a:xfrm>
            <a:off x="558129" y="434162"/>
            <a:ext cx="11075745"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4"/>
          <p:cNvSpPr>
            <a:spLocks noGrp="1"/>
          </p:cNvSpPr>
          <p:nvPr>
            <p:ph type="ctrTitle"/>
          </p:nvPr>
        </p:nvSpPr>
        <p:spPr>
          <a:xfrm>
            <a:off x="963168" y="1820206"/>
            <a:ext cx="103632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altLang="zh-CN"/>
              <a:t>Click to edit Master title style</a:t>
            </a:r>
            <a:endParaRPr kumimoji="0" lang="en-US"/>
          </a:p>
        </p:txBody>
      </p:sp>
      <p:sp>
        <p:nvSpPr>
          <p:cNvPr id="20" name="Subtitle 19"/>
          <p:cNvSpPr>
            <a:spLocks noGrp="1"/>
          </p:cNvSpPr>
          <p:nvPr>
            <p:ph type="subTitle" idx="1"/>
          </p:nvPr>
        </p:nvSpPr>
        <p:spPr>
          <a:xfrm>
            <a:off x="963168" y="3685032"/>
            <a:ext cx="103632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ltLang="zh-CN"/>
              <a:t>Click to edit Master subtitle style</a:t>
            </a:r>
            <a:endParaRPr kumimoji="0" lang="en-US"/>
          </a:p>
        </p:txBody>
      </p:sp>
      <p:sp>
        <p:nvSpPr>
          <p:cNvPr id="19" name="Date Placeholder 18"/>
          <p:cNvSpPr>
            <a:spLocks noGrp="1"/>
          </p:cNvSpPr>
          <p:nvPr>
            <p:ph type="dt" sz="half" idx="10"/>
          </p:nvPr>
        </p:nvSpPr>
        <p:spPr/>
        <p:txBody>
          <a:bodyPr/>
          <a:lstStyle/>
          <a:p>
            <a:fld id="{B2E71690-01C9-4E2D-A189-73D0D7803181}" type="datetimeFigureOut">
              <a:rPr lang="en-PH" smtClean="0"/>
              <a:t>8/19/26</a:t>
            </a:fld>
            <a:endParaRPr lang="en-PH"/>
          </a:p>
        </p:txBody>
      </p:sp>
      <p:sp>
        <p:nvSpPr>
          <p:cNvPr id="8" name="Footer Placeholder 7"/>
          <p:cNvSpPr>
            <a:spLocks noGrp="1"/>
          </p:cNvSpPr>
          <p:nvPr>
            <p:ph type="ftr" sz="quarter" idx="11"/>
          </p:nvPr>
        </p:nvSpPr>
        <p:spPr/>
        <p:txBody>
          <a:bodyPr/>
          <a:lstStyle/>
          <a:p>
            <a:endParaRPr lang="en-PH"/>
          </a:p>
        </p:txBody>
      </p:sp>
      <p:sp>
        <p:nvSpPr>
          <p:cNvPr id="11" name="Slide Number Placeholder 10"/>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lstStyle/>
          <a:p>
            <a:r>
              <a:rPr kumimoji="0" lang="en-US" altLang="zh-CN"/>
              <a:t>Click to edit Master title style</a:t>
            </a:r>
            <a:endParaRPr kumimoji="0" lang="en-US"/>
          </a:p>
        </p:txBody>
      </p:sp>
      <p:sp>
        <p:nvSpPr>
          <p:cNvPr id="3" name="Content Placeholder 2"/>
          <p:cNvSpPr>
            <a:spLocks noGrp="1"/>
          </p:cNvSpPr>
          <p:nvPr>
            <p:ph idx="1"/>
          </p:nvPr>
        </p:nvSpPr>
        <p:spPr>
          <a:xfrm>
            <a:off x="670560" y="530352"/>
            <a:ext cx="10911840" cy="4187952"/>
          </a:xfrm>
        </p:spPr>
        <p:txBody>
          <a:body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B2E71690-01C9-4E2D-A189-73D0D7803181}" type="datetimeFigureOut">
              <a:rPr lang="en-PH" smtClean="0"/>
              <a:t>8/19/26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ed Rectangle 10"/>
          <p:cNvSpPr/>
          <p:nvPr/>
        </p:nvSpPr>
        <p:spPr>
          <a:xfrm>
            <a:off x="558129" y="434163"/>
            <a:ext cx="11075745"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24459" y="4928616"/>
            <a:ext cx="10911840" cy="676656"/>
          </a:xfrm>
        </p:spPr>
        <p:txBody>
          <a:bodyPr lIns="91440" bIns="0" anchor="b"/>
          <a:lstStyle>
            <a:lvl1pPr algn="l">
              <a:buNone/>
              <a:defRPr sz="3600" b="0" cap="none" baseline="0">
                <a:solidFill>
                  <a:schemeClr val="bg2">
                    <a:shade val="25000"/>
                  </a:schemeClr>
                </a:solidFill>
                <a:effectLst/>
              </a:defRPr>
            </a:lvl1pPr>
            <a:extLst/>
          </a:lstStyle>
          <a:p>
            <a:r>
              <a:rPr kumimoji="0" lang="en-US" altLang="zh-CN"/>
              <a:t>Click to edit Master title style</a:t>
            </a:r>
            <a:endParaRPr kumimoji="0" lang="en-US"/>
          </a:p>
        </p:txBody>
      </p:sp>
      <p:sp>
        <p:nvSpPr>
          <p:cNvPr id="3" name="Text Placeholder 2"/>
          <p:cNvSpPr>
            <a:spLocks noGrp="1"/>
          </p:cNvSpPr>
          <p:nvPr>
            <p:ph type="body" idx="1"/>
          </p:nvPr>
        </p:nvSpPr>
        <p:spPr>
          <a:xfrm>
            <a:off x="624459" y="5624484"/>
            <a:ext cx="1091184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ltLang="zh-CN"/>
              <a:t>Click to edit Master text styles</a:t>
            </a:r>
          </a:p>
        </p:txBody>
      </p:sp>
      <p:sp>
        <p:nvSpPr>
          <p:cNvPr id="4" name="Date Placeholder 3"/>
          <p:cNvSpPr>
            <a:spLocks noGrp="1"/>
          </p:cNvSpPr>
          <p:nvPr>
            <p:ph type="dt" sz="half" idx="10"/>
          </p:nvPr>
        </p:nvSpPr>
        <p:spPr/>
        <p:txBody>
          <a:bodyPr/>
          <a:lstStyle/>
          <a:p>
            <a:fld id="{B2E71690-01C9-4E2D-A189-73D0D7803181}" type="datetimeFigureOut">
              <a:rPr lang="en-PH" smtClean="0"/>
              <a:t>8/19/26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Content Placeholder 2"/>
          <p:cNvSpPr>
            <a:spLocks noGrp="1"/>
          </p:cNvSpPr>
          <p:nvPr>
            <p:ph sz="half" idx="1"/>
          </p:nvPr>
        </p:nvSpPr>
        <p:spPr>
          <a:xfrm>
            <a:off x="685803" y="530352"/>
            <a:ext cx="524256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6340480" y="530352"/>
            <a:ext cx="524256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fld id="{B2E71690-01C9-4E2D-A189-73D0D7803181}" type="datetimeFigureOut">
              <a:rPr lang="en-PH" smtClean="0"/>
              <a:t>8/19/26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nchor="b"/>
          <a:lstStyle>
            <a:lvl1pPr>
              <a:defRPr b="1"/>
            </a:lvl1pPr>
            <a:extLst/>
          </a:lstStyle>
          <a:p>
            <a:r>
              <a:rPr kumimoji="0" lang="en-US" altLang="zh-CN"/>
              <a:t>Click to edit Master title style</a:t>
            </a:r>
            <a:endParaRPr kumimoji="0" lang="en-US"/>
          </a:p>
        </p:txBody>
      </p:sp>
      <p:sp>
        <p:nvSpPr>
          <p:cNvPr id="3" name="Text Placeholder 2"/>
          <p:cNvSpPr>
            <a:spLocks noGrp="1"/>
          </p:cNvSpPr>
          <p:nvPr>
            <p:ph type="body" idx="1"/>
          </p:nvPr>
        </p:nvSpPr>
        <p:spPr>
          <a:xfrm>
            <a:off x="809632" y="579438"/>
            <a:ext cx="524256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ltLang="zh-CN"/>
              <a:t>Click to edit Master text styles</a:t>
            </a:r>
          </a:p>
        </p:txBody>
      </p:sp>
      <p:sp>
        <p:nvSpPr>
          <p:cNvPr id="4" name="Text Placeholder 3"/>
          <p:cNvSpPr>
            <a:spLocks noGrp="1"/>
          </p:cNvSpPr>
          <p:nvPr>
            <p:ph type="body" sz="half" idx="3"/>
          </p:nvPr>
        </p:nvSpPr>
        <p:spPr>
          <a:xfrm>
            <a:off x="6202892" y="579438"/>
            <a:ext cx="524256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ltLang="zh-CN"/>
              <a:t>Click to edit Master text styles</a:t>
            </a:r>
          </a:p>
        </p:txBody>
      </p:sp>
      <p:sp>
        <p:nvSpPr>
          <p:cNvPr id="5" name="Content Placeholder 4"/>
          <p:cNvSpPr>
            <a:spLocks noGrp="1"/>
          </p:cNvSpPr>
          <p:nvPr>
            <p:ph sz="quarter" idx="2"/>
          </p:nvPr>
        </p:nvSpPr>
        <p:spPr>
          <a:xfrm>
            <a:off x="809632" y="1447800"/>
            <a:ext cx="524256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6202892" y="1447800"/>
            <a:ext cx="524256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fld id="{B2E71690-01C9-4E2D-A189-73D0D7803181}" type="datetimeFigureOut">
              <a:rPr lang="en-PH" smtClean="0"/>
              <a:t>8/19/26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Date Placeholder 2"/>
          <p:cNvSpPr>
            <a:spLocks noGrp="1"/>
          </p:cNvSpPr>
          <p:nvPr>
            <p:ph type="dt" sz="half" idx="10"/>
          </p:nvPr>
        </p:nvSpPr>
        <p:spPr/>
        <p:txBody>
          <a:bodyPr/>
          <a:lstStyle/>
          <a:p>
            <a:fld id="{B2E71690-01C9-4E2D-A189-73D0D7803181}" type="datetimeFigureOut">
              <a:rPr lang="en-PH" smtClean="0"/>
              <a:t>8/19/26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B2E71690-01C9-4E2D-A189-73D0D7803181}" type="datetimeFigureOut">
              <a:rPr lang="en-PH" smtClean="0"/>
              <a:t>8/19/26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85045" y="533400"/>
            <a:ext cx="3962400" cy="914400"/>
          </a:xfrm>
        </p:spPr>
        <p:txBody>
          <a:bodyPr anchor="b"/>
          <a:lstStyle>
            <a:lvl1pPr algn="l">
              <a:buNone/>
              <a:defRPr sz="2200" b="1">
                <a:solidFill>
                  <a:schemeClr val="accent1"/>
                </a:solidFill>
              </a:defRPr>
            </a:lvl1pPr>
            <a:extLst/>
          </a:lstStyle>
          <a:p>
            <a:r>
              <a:rPr kumimoji="0" lang="en-US" altLang="zh-CN"/>
              <a:t>Click to edit Master title style</a:t>
            </a:r>
            <a:endParaRPr kumimoji="0" lang="en-US"/>
          </a:p>
        </p:txBody>
      </p:sp>
      <p:sp>
        <p:nvSpPr>
          <p:cNvPr id="3" name="Text Placeholder 2"/>
          <p:cNvSpPr>
            <a:spLocks noGrp="1"/>
          </p:cNvSpPr>
          <p:nvPr>
            <p:ph type="body" idx="2"/>
          </p:nvPr>
        </p:nvSpPr>
        <p:spPr>
          <a:xfrm>
            <a:off x="7385129" y="1447802"/>
            <a:ext cx="39624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Content Placeholder 3"/>
          <p:cNvSpPr>
            <a:spLocks noGrp="1"/>
          </p:cNvSpPr>
          <p:nvPr>
            <p:ph sz="half" idx="1"/>
          </p:nvPr>
        </p:nvSpPr>
        <p:spPr>
          <a:xfrm>
            <a:off x="1015163" y="930144"/>
            <a:ext cx="6168212"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fld id="{B2E71690-01C9-4E2D-A189-73D0D7803181}" type="datetimeFigureOut">
              <a:rPr lang="en-PH" smtClean="0"/>
              <a:t>8/19/26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 Single Corner Rectangle 10"/>
          <p:cNvSpPr/>
          <p:nvPr/>
        </p:nvSpPr>
        <p:spPr>
          <a:xfrm>
            <a:off x="8534401" y="434162"/>
            <a:ext cx="3099473"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09600" y="5012056"/>
            <a:ext cx="10972800" cy="1051560"/>
          </a:xfrm>
        </p:spPr>
        <p:txBody>
          <a:bodyPr anchor="t"/>
          <a:lstStyle>
            <a:lvl1pPr algn="l">
              <a:buNone/>
              <a:defRPr sz="3600" b="0">
                <a:solidFill>
                  <a:schemeClr val="bg2">
                    <a:shade val="25000"/>
                  </a:schemeClr>
                </a:solidFill>
                <a:effectLst/>
              </a:defRPr>
            </a:lvl1pPr>
            <a:extLst/>
          </a:lstStyle>
          <a:p>
            <a:r>
              <a:rPr kumimoji="0" lang="en-US" altLang="zh-CN"/>
              <a:t>Click to edit Master title style</a:t>
            </a:r>
            <a:endParaRPr kumimoji="0" lang="en-US"/>
          </a:p>
        </p:txBody>
      </p:sp>
      <p:sp>
        <p:nvSpPr>
          <p:cNvPr id="4" name="Text Placeholder 3"/>
          <p:cNvSpPr>
            <a:spLocks noGrp="1"/>
          </p:cNvSpPr>
          <p:nvPr>
            <p:ph type="body" sz="half" idx="2"/>
          </p:nvPr>
        </p:nvSpPr>
        <p:spPr bwMode="grayWhite">
          <a:xfrm>
            <a:off x="8616949" y="533400"/>
            <a:ext cx="298704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fld id="{B2E71690-01C9-4E2D-A189-73D0D7803181}" type="datetimeFigureOut">
              <a:rPr lang="en-PH" smtClean="0"/>
              <a:t>8/19/26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26AA8E65-B71B-47BC-874E-26AA27AB5770}" type="slidenum">
              <a:rPr lang="en-PH" smtClean="0"/>
              <a:t>‹#›</a:t>
            </a:fld>
            <a:endParaRPr lang="en-PH"/>
          </a:p>
        </p:txBody>
      </p:sp>
      <p:sp>
        <p:nvSpPr>
          <p:cNvPr id="3" name="Picture Placeholder 2"/>
          <p:cNvSpPr>
            <a:spLocks noGrp="1"/>
          </p:cNvSpPr>
          <p:nvPr>
            <p:ph type="pic" idx="1"/>
          </p:nvPr>
        </p:nvSpPr>
        <p:spPr>
          <a:xfrm>
            <a:off x="561973" y="435768"/>
            <a:ext cx="7900416"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altLang="zh-CN"/>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670560" y="530352"/>
            <a:ext cx="10911840" cy="4187952"/>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B2E71690-01C9-4E2D-A189-73D0D7803181}" type="datetimeFigureOut">
              <a:rPr lang="en-PH" smtClean="0"/>
              <a:t>8/19/26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533405"/>
            <a:ext cx="2641600" cy="5257799"/>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711200" y="533403"/>
            <a:ext cx="7924800" cy="5257801"/>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B2E71690-01C9-4E2D-A189-73D0D7803181}" type="datetimeFigureOut">
              <a:rPr lang="en-PH" smtClean="0"/>
              <a:t>8/19/26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26AA8E65-B71B-47BC-874E-26AA27AB5770}" type="slidenum">
              <a:rPr lang="en-PH" smtClean="0"/>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ounded Rectangle 8"/>
          <p:cNvSpPr/>
          <p:nvPr/>
        </p:nvSpPr>
        <p:spPr>
          <a:xfrm>
            <a:off x="558129" y="434162"/>
            <a:ext cx="11075745"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itle Placeholder 12"/>
          <p:cNvSpPr>
            <a:spLocks noGrp="1"/>
          </p:cNvSpPr>
          <p:nvPr>
            <p:ph type="title"/>
          </p:nvPr>
        </p:nvSpPr>
        <p:spPr>
          <a:xfrm>
            <a:off x="670560" y="4985590"/>
            <a:ext cx="10911840" cy="1051560"/>
          </a:xfrm>
          <a:prstGeom prst="rect">
            <a:avLst/>
          </a:prstGeom>
        </p:spPr>
        <p:txBody>
          <a:bodyPr vert="horz" anchor="b">
            <a:normAutofit/>
          </a:bodyPr>
          <a:lstStyle/>
          <a:p>
            <a:r>
              <a:rPr kumimoji="0" lang="en-US" altLang="zh-CN"/>
              <a:t>Click to edit Master title style</a:t>
            </a:r>
            <a:endParaRPr kumimoji="0" lang="en-US"/>
          </a:p>
        </p:txBody>
      </p:sp>
      <p:sp>
        <p:nvSpPr>
          <p:cNvPr id="4" name="Text Placeholder 3"/>
          <p:cNvSpPr>
            <a:spLocks noGrp="1"/>
          </p:cNvSpPr>
          <p:nvPr>
            <p:ph type="body" idx="1"/>
          </p:nvPr>
        </p:nvSpPr>
        <p:spPr>
          <a:xfrm>
            <a:off x="670560" y="530352"/>
            <a:ext cx="10911840" cy="4187952"/>
          </a:xfrm>
          <a:prstGeom prst="rect">
            <a:avLst/>
          </a:prstGeom>
        </p:spPr>
        <p:txBody>
          <a:bodyPr vert="horz" lIns="182880" tIns="91440">
            <a:normAutofit/>
          </a:bodyPr>
          <a:lstStyle/>
          <a:p>
            <a:pPr lvl="0" eaLnBrk="1" latinLnBrk="0" hangingPunct="1"/>
            <a:r>
              <a:rPr kumimoji="0" lang="en-US" altLang="zh-CN"/>
              <a:t>Click to edit Master text styles</a:t>
            </a:r>
          </a:p>
          <a:p>
            <a:pPr lvl="1" eaLnBrk="1" latinLnBrk="0" hangingPunct="1"/>
            <a:r>
              <a:rPr kumimoji="0" lang="en-US" altLang="zh-CN"/>
              <a:t>Second level</a:t>
            </a:r>
          </a:p>
          <a:p>
            <a:pPr lvl="2" eaLnBrk="1" latinLnBrk="0" hangingPunct="1"/>
            <a:r>
              <a:rPr kumimoji="0" lang="en-US" altLang="zh-CN"/>
              <a:t>Third level</a:t>
            </a:r>
          </a:p>
          <a:p>
            <a:pPr lvl="3" eaLnBrk="1" latinLnBrk="0" hangingPunct="1"/>
            <a:r>
              <a:rPr kumimoji="0" lang="en-US" altLang="zh-CN"/>
              <a:t>Fourth level</a:t>
            </a:r>
          </a:p>
          <a:p>
            <a:pPr lvl="4" eaLnBrk="1" latinLnBrk="0" hangingPunct="1"/>
            <a:r>
              <a:rPr kumimoji="0" lang="en-US" altLang="zh-CN"/>
              <a:t>Fifth level</a:t>
            </a:r>
            <a:endParaRPr kumimoji="0" lang="en-US"/>
          </a:p>
        </p:txBody>
      </p:sp>
      <p:sp>
        <p:nvSpPr>
          <p:cNvPr id="25" name="Date Placeholder 24"/>
          <p:cNvSpPr>
            <a:spLocks noGrp="1"/>
          </p:cNvSpPr>
          <p:nvPr>
            <p:ph type="dt" sz="half" idx="2"/>
          </p:nvPr>
        </p:nvSpPr>
        <p:spPr>
          <a:xfrm>
            <a:off x="5035104" y="6111876"/>
            <a:ext cx="3048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2E71690-01C9-4E2D-A189-73D0D7803181}" type="datetimeFigureOut">
              <a:rPr lang="en-PH" smtClean="0"/>
              <a:t>8/19/26</a:t>
            </a:fld>
            <a:endParaRPr lang="en-PH"/>
          </a:p>
        </p:txBody>
      </p:sp>
      <p:sp>
        <p:nvSpPr>
          <p:cNvPr id="18" name="Footer Placeholder 17"/>
          <p:cNvSpPr>
            <a:spLocks noGrp="1"/>
          </p:cNvSpPr>
          <p:nvPr>
            <p:ph type="ftr" sz="quarter" idx="3"/>
          </p:nvPr>
        </p:nvSpPr>
        <p:spPr>
          <a:xfrm>
            <a:off x="8083104" y="6111876"/>
            <a:ext cx="3048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PH"/>
          </a:p>
        </p:txBody>
      </p:sp>
      <p:sp>
        <p:nvSpPr>
          <p:cNvPr id="5" name="Slide Number Placeholder 4"/>
          <p:cNvSpPr>
            <a:spLocks noGrp="1"/>
          </p:cNvSpPr>
          <p:nvPr>
            <p:ph type="sldNum" sz="quarter" idx="4"/>
          </p:nvPr>
        </p:nvSpPr>
        <p:spPr>
          <a:xfrm>
            <a:off x="11131104" y="6111876"/>
            <a:ext cx="6096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26AA8E65-B71B-47BC-874E-26AA27AB5770}" type="slidenum">
              <a:rPr lang="en-PH" smtClean="0"/>
              <a:t>‹#›</a:t>
            </a:fld>
            <a:endParaRPr lang="en-PH"/>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55527" y="2758250"/>
            <a:ext cx="7416824" cy="1656184"/>
          </a:xfrm>
        </p:spPr>
        <p:txBody>
          <a:bodyPr>
            <a:normAutofit/>
          </a:bodyPr>
          <a:lstStyle/>
          <a:p>
            <a:r>
              <a:rPr lang="en-PH" sz="4000" dirty="0"/>
              <a:t>Movement Enhancement</a:t>
            </a:r>
          </a:p>
        </p:txBody>
      </p:sp>
      <p:sp>
        <p:nvSpPr>
          <p:cNvPr id="3" name="Subtitle 2"/>
          <p:cNvSpPr>
            <a:spLocks noGrp="1"/>
          </p:cNvSpPr>
          <p:nvPr>
            <p:ph type="subTitle" idx="1"/>
          </p:nvPr>
        </p:nvSpPr>
        <p:spPr>
          <a:xfrm>
            <a:off x="587296" y="4496296"/>
            <a:ext cx="7324328" cy="1656184"/>
          </a:xfrm>
        </p:spPr>
        <p:txBody>
          <a:bodyPr>
            <a:normAutofit/>
          </a:bodyPr>
          <a:lstStyle/>
          <a:p>
            <a:pPr algn="l"/>
            <a:r>
              <a:rPr lang="en-US" altLang="zh-CN" b="1" dirty="0">
                <a:solidFill>
                  <a:schemeClr val="tx1"/>
                </a:solidFill>
              </a:rPr>
              <a:t>Prepared: </a:t>
            </a:r>
          </a:p>
          <a:p>
            <a:pPr algn="l"/>
            <a:endParaRPr lang="en-US" altLang="zh-CN" b="1" dirty="0">
              <a:solidFill>
                <a:schemeClr val="tx1"/>
              </a:solidFill>
            </a:endParaRPr>
          </a:p>
          <a:p>
            <a:pPr algn="l"/>
            <a:r>
              <a:rPr lang="en-US" altLang="zh-CN" b="1" dirty="0">
                <a:solidFill>
                  <a:schemeClr val="tx1"/>
                </a:solidFill>
              </a:rPr>
              <a:t>MS.MARY ANN B. AVELINO</a:t>
            </a:r>
          </a:p>
          <a:p>
            <a:pPr algn="l"/>
            <a:r>
              <a:rPr lang="en-US" altLang="zh-CN" b="1" dirty="0">
                <a:solidFill>
                  <a:schemeClr val="tx1"/>
                </a:solidFill>
              </a:rPr>
              <a:t>Instructor </a:t>
            </a:r>
          </a:p>
          <a:p>
            <a:pPr algn="l"/>
            <a:r>
              <a:rPr lang="en-US" altLang="zh-CN" b="1" dirty="0">
                <a:solidFill>
                  <a:schemeClr val="tx1"/>
                </a:solidFill>
              </a:rPr>
              <a:t>maryann.avelino@cvsu.edu.ph </a:t>
            </a:r>
            <a:endParaRPr lang="zh-CN" altLang="en-US" b="1" dirty="0">
              <a:solidFill>
                <a:schemeClr val="tx1"/>
              </a:solidFill>
            </a:endParaRPr>
          </a:p>
        </p:txBody>
      </p:sp>
      <p:sp>
        <p:nvSpPr>
          <p:cNvPr id="4" name="Subtitle 2"/>
          <p:cNvSpPr txBox="1">
            <a:spLocks/>
          </p:cNvSpPr>
          <p:nvPr/>
        </p:nvSpPr>
        <p:spPr>
          <a:xfrm>
            <a:off x="3215680" y="116632"/>
            <a:ext cx="7056784" cy="1512168"/>
          </a:xfrm>
          <a:prstGeom prst="rect">
            <a:avLst/>
          </a:prstGeom>
        </p:spPr>
        <p:txBody>
          <a:bodyPr vert="horz">
            <a:normAutofit/>
          </a:bodyPr>
          <a:lstStyle>
            <a:lvl1pPr marL="0" indent="0" algn="l" rtl="0" eaLnBrk="1" latinLnBrk="0" hangingPunct="1">
              <a:spcBef>
                <a:spcPts val="600"/>
              </a:spcBef>
              <a:buClr>
                <a:schemeClr val="accent1"/>
              </a:buClr>
              <a:buSzPct val="70000"/>
              <a:buFont typeface="Wingdings"/>
              <a:buNone/>
              <a:defRPr kumimoji="0" sz="1800" b="1" kern="1200">
                <a:solidFill>
                  <a:schemeClr val="tx2"/>
                </a:solidFill>
                <a:latin typeface="+mn-lt"/>
                <a:ea typeface="+mn-ea"/>
                <a:cs typeface="+mn-cs"/>
              </a:defRPr>
            </a:lvl1pPr>
            <a:lvl2pPr marL="457200" indent="0" algn="ctr" rtl="0" eaLnBrk="1" latinLnBrk="0" hangingPunct="1">
              <a:spcBef>
                <a:spcPct val="20000"/>
              </a:spcBef>
              <a:buClr>
                <a:schemeClr val="accent1"/>
              </a:buClr>
              <a:buSzPct val="80000"/>
              <a:buFont typeface="Wingdings 2"/>
              <a:buNone/>
              <a:defRPr kumimoji="0" sz="2100" kern="1200">
                <a:solidFill>
                  <a:schemeClr val="tx1"/>
                </a:solidFill>
                <a:latin typeface="+mn-lt"/>
                <a:ea typeface="+mn-ea"/>
                <a:cs typeface="+mn-cs"/>
              </a:defRPr>
            </a:lvl2pPr>
            <a:lvl3pPr marL="914400" indent="0" algn="ctr" rtl="0" eaLnBrk="1" latinLnBrk="0" hangingPunct="1">
              <a:spcBef>
                <a:spcPct val="20000"/>
              </a:spcBef>
              <a:buClr>
                <a:schemeClr val="accent1">
                  <a:shade val="75000"/>
                </a:schemeClr>
              </a:buClr>
              <a:buSzPct val="60000"/>
              <a:buFont typeface="Wingdings"/>
              <a:buNone/>
              <a:defRPr kumimoji="0" sz="1800" kern="1200">
                <a:solidFill>
                  <a:schemeClr val="tx1"/>
                </a:solidFill>
                <a:latin typeface="+mn-lt"/>
                <a:ea typeface="+mn-ea"/>
                <a:cs typeface="+mn-cs"/>
              </a:defRPr>
            </a:lvl3pPr>
            <a:lvl4pPr marL="1371600" indent="0" algn="ctr" rtl="0" eaLnBrk="1" latinLnBrk="0" hangingPunct="1">
              <a:spcBef>
                <a:spcPct val="20000"/>
              </a:spcBef>
              <a:buClr>
                <a:schemeClr val="accent1">
                  <a:tint val="60000"/>
                </a:schemeClr>
              </a:buClr>
              <a:buSzPct val="60000"/>
              <a:buFont typeface="Wingdings"/>
              <a:buNone/>
              <a:defRPr kumimoji="0" sz="1800" kern="1200">
                <a:solidFill>
                  <a:schemeClr val="tx1"/>
                </a:solidFill>
                <a:latin typeface="+mn-lt"/>
                <a:ea typeface="+mn-ea"/>
                <a:cs typeface="+mn-cs"/>
              </a:defRPr>
            </a:lvl4pPr>
            <a:lvl5pPr marL="1828800" indent="0" algn="ctr" rtl="0" eaLnBrk="1" latinLnBrk="0" hangingPunct="1">
              <a:spcBef>
                <a:spcPct val="20000"/>
              </a:spcBef>
              <a:buClr>
                <a:schemeClr val="accent2">
                  <a:tint val="60000"/>
                </a:schemeClr>
              </a:buClr>
              <a:buSzPct val="68000"/>
              <a:buFont typeface="Wingdings 2"/>
              <a:buNone/>
              <a:defRPr kumimoji="0" sz="1600" kern="1200">
                <a:solidFill>
                  <a:schemeClr val="tx1"/>
                </a:solidFill>
                <a:latin typeface="+mn-lt"/>
                <a:ea typeface="+mn-ea"/>
                <a:cs typeface="+mn-cs"/>
              </a:defRPr>
            </a:lvl5pPr>
            <a:lvl6pPr marL="2286000" indent="0" algn="ctr" rtl="0" eaLnBrk="1" latinLnBrk="0" hangingPunct="1">
              <a:spcBef>
                <a:spcPct val="20000"/>
              </a:spcBef>
              <a:buClr>
                <a:schemeClr val="accent1"/>
              </a:buClr>
              <a:buNone/>
              <a:defRPr kumimoji="0" sz="1600" kern="1200">
                <a:solidFill>
                  <a:schemeClr val="tx2"/>
                </a:solidFill>
                <a:latin typeface="+mn-lt"/>
                <a:ea typeface="+mn-ea"/>
                <a:cs typeface="+mn-cs"/>
              </a:defRPr>
            </a:lvl6pPr>
            <a:lvl7pPr marL="2743200" indent="0" algn="ctr" rtl="0" eaLnBrk="1" latinLnBrk="0" hangingPunct="1">
              <a:spcBef>
                <a:spcPct val="20000"/>
              </a:spcBef>
              <a:buClr>
                <a:schemeClr val="accent1">
                  <a:tint val="60000"/>
                </a:schemeClr>
              </a:buClr>
              <a:buSzPct val="60000"/>
              <a:buFont typeface="Wingdings"/>
              <a:buNone/>
              <a:defRPr kumimoji="0" sz="1400" kern="1200" baseline="0">
                <a:solidFill>
                  <a:schemeClr val="tx2"/>
                </a:solidFill>
                <a:latin typeface="+mn-lt"/>
                <a:ea typeface="+mn-ea"/>
                <a:cs typeface="+mn-cs"/>
              </a:defRPr>
            </a:lvl7pPr>
            <a:lvl8pPr marL="3200400" indent="0" algn="ctr" rtl="0" eaLnBrk="1" latinLnBrk="0" hangingPunct="1">
              <a:spcBef>
                <a:spcPct val="20000"/>
              </a:spcBef>
              <a:buClr>
                <a:schemeClr val="accent2"/>
              </a:buClr>
              <a:buNone/>
              <a:defRPr kumimoji="0" sz="1400" kern="1200" cap="small" baseline="0">
                <a:solidFill>
                  <a:schemeClr val="tx2"/>
                </a:solidFill>
                <a:latin typeface="+mn-lt"/>
                <a:ea typeface="+mn-ea"/>
                <a:cs typeface="+mn-cs"/>
              </a:defRPr>
            </a:lvl8pPr>
            <a:lvl9pPr marL="3657600" indent="0" algn="ctr" rtl="0" eaLnBrk="1" latinLnBrk="0" hangingPunct="1">
              <a:spcBef>
                <a:spcPct val="20000"/>
              </a:spcBef>
              <a:buClr>
                <a:schemeClr val="accent1">
                  <a:shade val="75000"/>
                </a:schemeClr>
              </a:buClr>
              <a:buNone/>
              <a:defRPr kumimoji="0" sz="1400" kern="1200" baseline="0">
                <a:solidFill>
                  <a:schemeClr val="tx2"/>
                </a:solidFill>
                <a:latin typeface="+mn-lt"/>
                <a:ea typeface="+mn-ea"/>
                <a:cs typeface="+mn-cs"/>
              </a:defRPr>
            </a:lvl9pPr>
          </a:lstStyle>
          <a:p>
            <a:endParaRPr lang="en-PH" dirty="0"/>
          </a:p>
          <a:p>
            <a:endParaRPr lang="en-PH" dirty="0"/>
          </a:p>
          <a:p>
            <a:endParaRPr lang="en-PH" dirty="0"/>
          </a:p>
        </p:txBody>
      </p:sp>
      <p:sp>
        <p:nvSpPr>
          <p:cNvPr id="10"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8" descr="Description: logo-CvS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9909" y="1024623"/>
            <a:ext cx="1028700" cy="9144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p:cNvSpPr>
            <a:spLocks noChangeArrowheads="1"/>
          </p:cNvSpPr>
          <p:nvPr/>
        </p:nvSpPr>
        <p:spPr bwMode="auto">
          <a:xfrm>
            <a:off x="3533774" y="853551"/>
            <a:ext cx="653857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tabLst>
                <a:tab pos="228600" algn="l"/>
              </a:tabLst>
            </a:pPr>
            <a:endParaRPr lang="en-US" sz="1000" dirty="0">
              <a:latin typeface="Arial" pitchFamily="34" charset="0"/>
              <a:ea typeface="Calibri" pitchFamily="34" charset="0"/>
              <a:cs typeface="Arial" pitchFamily="34" charset="0"/>
            </a:endParaRPr>
          </a:p>
          <a:p>
            <a:pPr algn="ctr" fontAlgn="base">
              <a:spcBef>
                <a:spcPct val="0"/>
              </a:spcBef>
              <a:spcAft>
                <a:spcPct val="0"/>
              </a:spcAft>
              <a:tabLst>
                <a:tab pos="228600" algn="l"/>
              </a:tabLst>
            </a:pPr>
            <a:endParaRPr lang="en-US" sz="1000" dirty="0">
              <a:latin typeface="Arial" pitchFamily="34" charset="0"/>
              <a:ea typeface="Calibri" pitchFamily="34" charset="0"/>
              <a:cs typeface="Arial" pitchFamily="34" charset="0"/>
            </a:endParaRPr>
          </a:p>
          <a:p>
            <a:pPr algn="ctr" fontAlgn="base">
              <a:spcBef>
                <a:spcPct val="0"/>
              </a:spcBef>
              <a:spcAft>
                <a:spcPct val="0"/>
              </a:spcAft>
              <a:tabLst>
                <a:tab pos="228600" algn="l"/>
              </a:tabLst>
            </a:pPr>
            <a:r>
              <a:rPr lang="en-US" sz="1600" b="1" dirty="0">
                <a:latin typeface="Arial" pitchFamily="34" charset="0"/>
                <a:ea typeface="Calibri" pitchFamily="34" charset="0"/>
                <a:cs typeface="Arial" pitchFamily="34" charset="0"/>
              </a:rPr>
              <a:t>Republic of the Philippines</a:t>
            </a:r>
            <a:endParaRPr lang="en-US" sz="1600" b="1" dirty="0">
              <a:latin typeface="Arial" pitchFamily="34" charset="0"/>
              <a:cs typeface="Arial" pitchFamily="34" charset="0"/>
            </a:endParaRPr>
          </a:p>
          <a:p>
            <a:pPr algn="ctr" eaLnBrk="0" fontAlgn="base" hangingPunct="0">
              <a:spcBef>
                <a:spcPct val="0"/>
              </a:spcBef>
              <a:spcAft>
                <a:spcPct val="0"/>
              </a:spcAft>
              <a:tabLst>
                <a:tab pos="228600" algn="l"/>
              </a:tabLst>
            </a:pPr>
            <a:r>
              <a:rPr lang="en-US" sz="1600" b="1" dirty="0">
                <a:latin typeface="Arial" pitchFamily="34" charset="0"/>
                <a:ea typeface="Calibri" pitchFamily="34" charset="0"/>
                <a:cs typeface="Arial" pitchFamily="34" charset="0"/>
              </a:rPr>
              <a:t>CAVITE STATE UNIVERSITY</a:t>
            </a:r>
            <a:endParaRPr lang="en-US" sz="1600" b="1" dirty="0">
              <a:latin typeface="Arial" pitchFamily="34" charset="0"/>
              <a:cs typeface="Arial" pitchFamily="34" charset="0"/>
            </a:endParaRPr>
          </a:p>
          <a:p>
            <a:pPr algn="ctr" eaLnBrk="0" fontAlgn="base" hangingPunct="0">
              <a:spcBef>
                <a:spcPct val="0"/>
              </a:spcBef>
              <a:spcAft>
                <a:spcPct val="0"/>
              </a:spcAft>
              <a:tabLst>
                <a:tab pos="228600" algn="l"/>
              </a:tabLst>
            </a:pPr>
            <a:r>
              <a:rPr lang="en-US" sz="1600" b="1" dirty="0">
                <a:solidFill>
                  <a:srgbClr val="000000"/>
                </a:solidFill>
                <a:latin typeface="Arial" pitchFamily="34" charset="0"/>
                <a:ea typeface="Calibri" pitchFamily="34" charset="0"/>
                <a:cs typeface="Arial" pitchFamily="34" charset="0"/>
              </a:rPr>
              <a:t>Carmona Campus</a:t>
            </a:r>
            <a:endParaRPr lang="en-US" sz="1600" b="1" dirty="0">
              <a:latin typeface="Arial" pitchFamily="34" charset="0"/>
              <a:cs typeface="Arial" pitchFamily="34" charset="0"/>
            </a:endParaRPr>
          </a:p>
          <a:p>
            <a:pPr algn="ctr" eaLnBrk="0" fontAlgn="base" hangingPunct="0">
              <a:spcBef>
                <a:spcPct val="0"/>
              </a:spcBef>
              <a:spcAft>
                <a:spcPct val="0"/>
              </a:spcAft>
              <a:tabLst>
                <a:tab pos="228600" algn="l"/>
              </a:tabLst>
            </a:pPr>
            <a:r>
              <a:rPr lang="en-US" sz="1600" b="1" dirty="0">
                <a:solidFill>
                  <a:srgbClr val="000000"/>
                </a:solidFill>
                <a:latin typeface="Arial" pitchFamily="34" charset="0"/>
                <a:ea typeface="Calibri" pitchFamily="34" charset="0"/>
                <a:cs typeface="Arial" pitchFamily="34" charset="0"/>
              </a:rPr>
              <a:t>		</a:t>
            </a:r>
            <a:r>
              <a:rPr lang="en-US" sz="1600" b="1" dirty="0">
                <a:solidFill>
                  <a:srgbClr val="000000"/>
                </a:solidFill>
                <a:latin typeface="Arial" pitchFamily="34" charset="0"/>
                <a:ea typeface="Calibri" pitchFamily="34" charset="0"/>
                <a:cs typeface="Arial" pitchFamily="34" charset="0"/>
                <a:sym typeface="Wingdings 2" pitchFamily="18" charset="2"/>
              </a:rPr>
              <a:t>DEPARTMENT OF ARTS AND SCIENCES</a:t>
            </a:r>
          </a:p>
        </p:txBody>
      </p:sp>
    </p:spTree>
    <p:extLst>
      <p:ext uri="{BB962C8B-B14F-4D97-AF65-F5344CB8AC3E}">
        <p14:creationId xmlns:p14="http://schemas.microsoft.com/office/powerpoint/2010/main" val="204530315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0969C-6CAD-C5D0-BDA0-DABAE57622AE}"/>
              </a:ext>
            </a:extLst>
          </p:cNvPr>
          <p:cNvSpPr>
            <a:spLocks noGrp="1"/>
          </p:cNvSpPr>
          <p:nvPr>
            <p:ph idx="1"/>
          </p:nvPr>
        </p:nvSpPr>
        <p:spPr/>
        <p:txBody>
          <a:bodyPr/>
          <a:lstStyle/>
          <a:p>
            <a:r>
              <a:rPr lang="en-US" sz="5400"/>
              <a:t>What is Movement ?</a:t>
            </a:r>
          </a:p>
          <a:p>
            <a:endParaRPr lang="en-US"/>
          </a:p>
          <a:p>
            <a:endParaRPr lang="en-US"/>
          </a:p>
          <a:p>
            <a:r>
              <a:rPr lang="en-US"/>
              <a:t>- Movement is essential for health and bodily functions. </a:t>
            </a:r>
          </a:p>
          <a:p>
            <a:r>
              <a:rPr lang="en-US"/>
              <a:t>In sports , it involves coordination , speed,  strength and </a:t>
            </a:r>
          </a:p>
          <a:p>
            <a:r>
              <a:rPr lang="en-US"/>
              <a:t>Flexibility . All contributing to better performance and well-being. </a:t>
            </a:r>
          </a:p>
          <a:p>
            <a:endParaRPr lang="en-US"/>
          </a:p>
        </p:txBody>
      </p:sp>
    </p:spTree>
    <p:extLst>
      <p:ext uri="{BB962C8B-B14F-4D97-AF65-F5344CB8AC3E}">
        <p14:creationId xmlns:p14="http://schemas.microsoft.com/office/powerpoint/2010/main" val="428032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9439A1-A495-2185-31D5-58F625913A65}"/>
              </a:ext>
            </a:extLst>
          </p:cNvPr>
          <p:cNvSpPr>
            <a:spLocks noGrp="1"/>
          </p:cNvSpPr>
          <p:nvPr>
            <p:ph idx="1"/>
          </p:nvPr>
        </p:nvSpPr>
        <p:spPr>
          <a:xfrm>
            <a:off x="670560" y="530352"/>
            <a:ext cx="10911840" cy="4187952"/>
          </a:xfrm>
        </p:spPr>
        <p:txBody>
          <a:bodyPr>
            <a:normAutofit lnSpcReduction="10000"/>
          </a:bodyPr>
          <a:lstStyle/>
          <a:p>
            <a:r>
              <a:rPr lang="en-US" b="0" i="0">
                <a:solidFill>
                  <a:srgbClr val="1F1F1F"/>
                </a:solidFill>
                <a:effectLst/>
                <a:latin typeface="Google Sans"/>
              </a:rPr>
              <a:t> </a:t>
            </a:r>
            <a:r>
              <a:rPr lang="en-US" sz="5400" b="0" i="0">
                <a:solidFill>
                  <a:srgbClr val="1F1F1F"/>
                </a:solidFill>
                <a:effectLst/>
                <a:latin typeface="Google Sans"/>
              </a:rPr>
              <a:t>WHAT IS MOVEMENT ENHANCEMENT ?</a:t>
            </a:r>
          </a:p>
          <a:p>
            <a:endParaRPr lang="en-US">
              <a:solidFill>
                <a:srgbClr val="1F1F1F"/>
              </a:solidFill>
              <a:latin typeface="Google Sans"/>
            </a:endParaRPr>
          </a:p>
          <a:p>
            <a:r>
              <a:rPr lang="en-US" b="0" i="0">
                <a:solidFill>
                  <a:srgbClr val="1F1F1F"/>
                </a:solidFill>
                <a:effectLst/>
                <a:latin typeface="Google Sans"/>
              </a:rPr>
              <a:t>- is </a:t>
            </a:r>
            <a:r>
              <a:rPr lang="en-US"/>
              <a:t>the process of using techniques and exercises to improve the quality, efficiency, and effectiveness of how a person moves, ultimately aiming to enhance their overall physical function, health, and performance in daily activities and sports</a:t>
            </a:r>
          </a:p>
        </p:txBody>
      </p:sp>
    </p:spTree>
    <p:extLst>
      <p:ext uri="{BB962C8B-B14F-4D97-AF65-F5344CB8AC3E}">
        <p14:creationId xmlns:p14="http://schemas.microsoft.com/office/powerpoint/2010/main" val="2849130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4815529"/>
            <a:ext cx="10911840" cy="1051560"/>
          </a:xfrm>
        </p:spPr>
        <p:txBody>
          <a:bodyPr>
            <a:normAutofit/>
          </a:bodyPr>
          <a:lstStyle/>
          <a:p>
            <a:r>
              <a:rPr lang="en-PH" sz="2800" dirty="0">
                <a:solidFill>
                  <a:schemeClr val="tx1"/>
                </a:solidFill>
              </a:rPr>
              <a:t>LEGAL BASIS </a:t>
            </a:r>
          </a:p>
        </p:txBody>
      </p:sp>
      <p:sp>
        <p:nvSpPr>
          <p:cNvPr id="3" name="Content Placeholder 2"/>
          <p:cNvSpPr>
            <a:spLocks noGrp="1"/>
          </p:cNvSpPr>
          <p:nvPr>
            <p:ph idx="1"/>
          </p:nvPr>
        </p:nvSpPr>
        <p:spPr/>
        <p:txBody>
          <a:bodyPr>
            <a:normAutofit/>
          </a:bodyPr>
          <a:lstStyle/>
          <a:p>
            <a:pPr marL="0" indent="0">
              <a:buNone/>
            </a:pPr>
            <a:endParaRPr lang="en-PH" b="1" dirty="0"/>
          </a:p>
          <a:p>
            <a:pPr marL="0" indent="0">
              <a:buNone/>
            </a:pPr>
            <a:endParaRPr lang="en-PH" b="1" dirty="0"/>
          </a:p>
          <a:p>
            <a:pPr marL="0" indent="0">
              <a:buNone/>
            </a:pPr>
            <a:endParaRPr lang="en-PH" b="1" dirty="0"/>
          </a:p>
          <a:p>
            <a:pPr marL="0" indent="0" algn="ctr">
              <a:buNone/>
            </a:pPr>
            <a:r>
              <a:rPr lang="en-PH" sz="5400" b="1" dirty="0">
                <a:solidFill>
                  <a:schemeClr val="accent1"/>
                </a:solidFill>
                <a:latin typeface="Arial" panose="020B0604020202020204" pitchFamily="34" charset="0"/>
                <a:cs typeface="Arial" panose="020B0604020202020204" pitchFamily="34" charset="0"/>
              </a:rPr>
              <a:t>Article XIV, Section 19 of  1987 Philippine Constitution</a:t>
            </a:r>
            <a:endParaRPr lang="en-PH" sz="5400" dirty="0">
              <a:solidFill>
                <a:schemeClr val="accent1"/>
              </a:solidFill>
              <a:latin typeface="Arial" panose="020B0604020202020204" pitchFamily="34" charset="0"/>
              <a:cs typeface="Arial" panose="020B0604020202020204" pitchFamily="34" charset="0"/>
            </a:endParaRPr>
          </a:p>
          <a:p>
            <a:pPr marL="0" indent="0">
              <a:buNone/>
            </a:pPr>
            <a:r>
              <a:rPr lang="en-PH" b="1" dirty="0"/>
              <a:t> </a:t>
            </a:r>
          </a:p>
          <a:p>
            <a:pPr marL="0" indent="0">
              <a:buNone/>
            </a:pPr>
            <a:endParaRPr lang="en-PH" dirty="0"/>
          </a:p>
          <a:p>
            <a:pPr marL="0" indent="0">
              <a:buNone/>
            </a:pPr>
            <a:endParaRPr lang="en-PH" dirty="0"/>
          </a:p>
        </p:txBody>
      </p:sp>
    </p:spTree>
    <p:extLst>
      <p:ext uri="{BB962C8B-B14F-4D97-AF65-F5344CB8AC3E}">
        <p14:creationId xmlns:p14="http://schemas.microsoft.com/office/powerpoint/2010/main" val="1694702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812" y="644696"/>
            <a:ext cx="10898156" cy="6213304"/>
          </a:xfrm>
        </p:spPr>
        <p:txBody>
          <a:bodyPr>
            <a:normAutofit/>
          </a:bodyPr>
          <a:lstStyle/>
          <a:p>
            <a:endParaRPr lang="en-PH" sz="2200" dirty="0"/>
          </a:p>
          <a:p>
            <a:pPr marL="0" indent="0" algn="ctr">
              <a:buNone/>
            </a:pPr>
            <a:r>
              <a:rPr lang="en-PH" sz="2200" b="1" dirty="0">
                <a:solidFill>
                  <a:schemeClr val="accent1"/>
                </a:solidFill>
                <a:latin typeface="Arial" panose="020B0604020202020204" pitchFamily="34" charset="0"/>
                <a:cs typeface="Arial" panose="020B0604020202020204" pitchFamily="34" charset="0"/>
              </a:rPr>
              <a:t>SECTION1. </a:t>
            </a:r>
          </a:p>
          <a:p>
            <a:pPr marL="0" indent="0" algn="just">
              <a:buNone/>
            </a:pPr>
            <a:r>
              <a:rPr lang="en-PH" sz="2200" i="1" dirty="0">
                <a:latin typeface="Arial" panose="020B0604020202020204" pitchFamily="34" charset="0"/>
                <a:cs typeface="Arial" panose="020B0604020202020204" pitchFamily="34" charset="0"/>
              </a:rPr>
              <a:t>The state shall promote physical education and encourage sports programs, league competitions and amateur sports including the training for international competitions to foster self-discipline teamwork &amp; excellence for the development of healthy and alert citizenry.</a:t>
            </a:r>
            <a:endParaRPr lang="en-PH" sz="2200" dirty="0">
              <a:latin typeface="Arial" panose="020B0604020202020204" pitchFamily="34" charset="0"/>
              <a:cs typeface="Arial" panose="020B0604020202020204" pitchFamily="34" charset="0"/>
            </a:endParaRPr>
          </a:p>
          <a:p>
            <a:pPr marL="0" indent="0">
              <a:buNone/>
            </a:pPr>
            <a:r>
              <a:rPr lang="en-PH" sz="2200" b="1" dirty="0">
                <a:latin typeface="Arial" panose="020B0604020202020204" pitchFamily="34" charset="0"/>
                <a:cs typeface="Arial" panose="020B0604020202020204" pitchFamily="34" charset="0"/>
              </a:rPr>
              <a:t> </a:t>
            </a:r>
            <a:endParaRPr lang="en-PH" sz="2200" dirty="0">
              <a:latin typeface="Arial" panose="020B0604020202020204" pitchFamily="34" charset="0"/>
              <a:cs typeface="Arial" panose="020B0604020202020204" pitchFamily="34" charset="0"/>
            </a:endParaRPr>
          </a:p>
          <a:p>
            <a:pPr marL="0" indent="0">
              <a:buNone/>
            </a:pPr>
            <a:endParaRPr lang="en-PH" sz="2200" dirty="0">
              <a:latin typeface="Arial" panose="020B0604020202020204" pitchFamily="34" charset="0"/>
              <a:cs typeface="Arial" panose="020B0604020202020204" pitchFamily="34" charset="0"/>
            </a:endParaRPr>
          </a:p>
          <a:p>
            <a:pPr marL="0" indent="0" algn="ctr">
              <a:buNone/>
            </a:pPr>
            <a:r>
              <a:rPr lang="en-PH" sz="2200" b="1" dirty="0">
                <a:solidFill>
                  <a:schemeClr val="accent1"/>
                </a:solidFill>
                <a:latin typeface="Arial" panose="020B0604020202020204" pitchFamily="34" charset="0"/>
                <a:cs typeface="Arial" panose="020B0604020202020204" pitchFamily="34" charset="0"/>
              </a:rPr>
              <a:t>SECTION2. </a:t>
            </a:r>
          </a:p>
          <a:p>
            <a:pPr marL="0" indent="0" algn="just">
              <a:buNone/>
            </a:pPr>
            <a:r>
              <a:rPr lang="en-PH" sz="2200" i="1" dirty="0">
                <a:latin typeface="Arial" panose="020B0604020202020204" pitchFamily="34" charset="0"/>
                <a:cs typeface="Arial" panose="020B0604020202020204" pitchFamily="34" charset="0"/>
              </a:rPr>
              <a:t>All educational institutions shall undertake regular sports activities throughout the country in cooperation with athletic clubs and other sectors.</a:t>
            </a:r>
            <a:endParaRPr lang="en-PH" sz="2200" dirty="0">
              <a:latin typeface="Arial" panose="020B0604020202020204" pitchFamily="34" charset="0"/>
              <a:cs typeface="Arial" panose="020B0604020202020204" pitchFamily="34" charset="0"/>
            </a:endParaRPr>
          </a:p>
          <a:p>
            <a:pPr marL="0" indent="0">
              <a:buNone/>
            </a:pPr>
            <a:endParaRPr lang="en-PH" sz="2200" dirty="0"/>
          </a:p>
        </p:txBody>
      </p:sp>
    </p:spTree>
    <p:extLst>
      <p:ext uri="{BB962C8B-B14F-4D97-AF65-F5344CB8AC3E}">
        <p14:creationId xmlns:p14="http://schemas.microsoft.com/office/powerpoint/2010/main" val="408767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811" y="170937"/>
            <a:ext cx="9088017" cy="1143000"/>
          </a:xfrm>
        </p:spPr>
        <p:txBody>
          <a:bodyPr>
            <a:normAutofit fontScale="90000"/>
          </a:bodyPr>
          <a:lstStyle/>
          <a:p>
            <a:r>
              <a:rPr lang="en-PH" b="1" dirty="0">
                <a:solidFill>
                  <a:schemeClr val="tx1"/>
                </a:solidFill>
              </a:rPr>
              <a:t> </a:t>
            </a:r>
            <a:br>
              <a:rPr lang="en-PH" dirty="0">
                <a:solidFill>
                  <a:schemeClr val="tx1"/>
                </a:solidFill>
              </a:rPr>
            </a:br>
            <a:r>
              <a:rPr lang="en-PH" b="1" dirty="0">
                <a:latin typeface="Arial" panose="020B0604020202020204" pitchFamily="34" charset="0"/>
                <a:cs typeface="Arial" panose="020B0604020202020204" pitchFamily="34" charset="0"/>
              </a:rPr>
              <a:t>CORE CONCEPTS OF PHYSICAL EDUCATION</a:t>
            </a:r>
            <a:endParaRPr lang="en-PH" sz="4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95604" y="1313937"/>
            <a:ext cx="11000792" cy="4873752"/>
          </a:xfrm>
        </p:spPr>
        <p:txBody>
          <a:bodyPr>
            <a:normAutofit/>
          </a:bodyPr>
          <a:lstStyle/>
          <a:p>
            <a:pPr marL="0" indent="0">
              <a:buNone/>
            </a:pPr>
            <a:endParaRPr lang="en-US" dirty="0"/>
          </a:p>
          <a:p>
            <a:pPr marL="0" indent="0" algn="just">
              <a:buNone/>
            </a:pPr>
            <a:r>
              <a:rPr lang="en-US" sz="2200" dirty="0">
                <a:latin typeface="Arial" panose="020B0604020202020204" pitchFamily="34" charset="0"/>
                <a:cs typeface="Arial" panose="020B0604020202020204" pitchFamily="34" charset="0"/>
              </a:rPr>
              <a:t>Came from the Latin word </a:t>
            </a:r>
            <a:r>
              <a:rPr lang="en-US" sz="2200" b="1" i="1" dirty="0">
                <a:latin typeface="Arial" panose="020B0604020202020204" pitchFamily="34" charset="0"/>
                <a:cs typeface="Arial" panose="020B0604020202020204" pitchFamily="34" charset="0"/>
              </a:rPr>
              <a:t>“</a:t>
            </a:r>
            <a:r>
              <a:rPr lang="en-US" sz="2200" b="1" i="1" u="sng" dirty="0" err="1">
                <a:latin typeface="Arial" panose="020B0604020202020204" pitchFamily="34" charset="0"/>
                <a:cs typeface="Arial" panose="020B0604020202020204" pitchFamily="34" charset="0"/>
              </a:rPr>
              <a:t>physica</a:t>
            </a:r>
            <a:r>
              <a:rPr lang="en-US" sz="2200" b="1" i="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meaning physics and </a:t>
            </a:r>
            <a:r>
              <a:rPr lang="en-US" sz="2200" b="1" i="1" dirty="0">
                <a:latin typeface="Arial" panose="020B0604020202020204" pitchFamily="34" charset="0"/>
                <a:cs typeface="Arial" panose="020B0604020202020204" pitchFamily="34" charset="0"/>
              </a:rPr>
              <a:t>“</a:t>
            </a:r>
            <a:r>
              <a:rPr lang="en-US" sz="2200" b="1" i="1" u="sng" dirty="0" err="1">
                <a:latin typeface="Arial" panose="020B0604020202020204" pitchFamily="34" charset="0"/>
                <a:cs typeface="Arial" panose="020B0604020202020204" pitchFamily="34" charset="0"/>
              </a:rPr>
              <a:t>educatio</a:t>
            </a:r>
            <a:r>
              <a:rPr lang="en-US" sz="2200" b="1" i="1" dirty="0">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 meaning the training of the bodily organs and powers with a view to the promotion of hearts.</a:t>
            </a:r>
            <a:endParaRPr lang="en-PH" sz="2200" dirty="0">
              <a:latin typeface="Arial" panose="020B0604020202020204" pitchFamily="34" charset="0"/>
              <a:cs typeface="Arial" panose="020B0604020202020204" pitchFamily="34" charset="0"/>
            </a:endParaRPr>
          </a:p>
          <a:p>
            <a:pPr marL="0" indent="0">
              <a:buNone/>
            </a:pPr>
            <a:endParaRPr lang="en-PH" sz="2200" dirty="0">
              <a:latin typeface="Arial" panose="020B0604020202020204" pitchFamily="34" charset="0"/>
              <a:cs typeface="Arial" panose="020B0604020202020204" pitchFamily="34" charset="0"/>
            </a:endParaRPr>
          </a:p>
          <a:p>
            <a:pPr marL="0" indent="0">
              <a:buNone/>
            </a:pPr>
            <a:r>
              <a:rPr lang="en-US" sz="2200" dirty="0">
                <a:latin typeface="Arial" panose="020B0604020202020204" pitchFamily="34" charset="0"/>
                <a:cs typeface="Arial" panose="020B0604020202020204" pitchFamily="34" charset="0"/>
              </a:rPr>
              <a:t>A process through which an individual obtains optimal mental, social and fitness through physical activities.</a:t>
            </a:r>
            <a:endParaRPr lang="en-PH" sz="2200" dirty="0">
              <a:latin typeface="Arial" panose="020B0604020202020204" pitchFamily="34" charset="0"/>
              <a:cs typeface="Arial" panose="020B0604020202020204" pitchFamily="34" charset="0"/>
            </a:endParaRPr>
          </a:p>
          <a:p>
            <a:pPr marL="0" indent="0">
              <a:buNone/>
            </a:pPr>
            <a:endParaRPr lang="en-PH" sz="2200" dirty="0">
              <a:latin typeface="Arial" panose="020B0604020202020204" pitchFamily="34" charset="0"/>
              <a:cs typeface="Arial" panose="020B0604020202020204" pitchFamily="34" charset="0"/>
            </a:endParaRPr>
          </a:p>
          <a:p>
            <a:pPr marL="0" indent="0">
              <a:buNone/>
            </a:pPr>
            <a:r>
              <a:rPr lang="en-US" sz="2200" dirty="0">
                <a:latin typeface="Arial" panose="020B0604020202020204" pitchFamily="34" charset="0"/>
                <a:cs typeface="Arial" panose="020B0604020202020204" pitchFamily="34" charset="0"/>
              </a:rPr>
              <a:t>It refers to the enhancement of individuals growth &amp; development through total body movements</a:t>
            </a:r>
            <a:endParaRPr lang="en-PH" sz="2200" dirty="0">
              <a:latin typeface="Arial" panose="020B0604020202020204" pitchFamily="34" charset="0"/>
              <a:cs typeface="Arial" panose="020B0604020202020204" pitchFamily="34" charset="0"/>
            </a:endParaRPr>
          </a:p>
          <a:p>
            <a:pPr marL="0" indent="0">
              <a:buNone/>
            </a:pPr>
            <a:endParaRPr lang="en-PH" dirty="0"/>
          </a:p>
          <a:p>
            <a:pPr marL="0" indent="0">
              <a:buNone/>
            </a:pPr>
            <a:endParaRPr lang="en-PH" dirty="0"/>
          </a:p>
        </p:txBody>
      </p:sp>
    </p:spTree>
    <p:extLst>
      <p:ext uri="{BB962C8B-B14F-4D97-AF65-F5344CB8AC3E}">
        <p14:creationId xmlns:p14="http://schemas.microsoft.com/office/powerpoint/2010/main" val="3880578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544" y="607958"/>
            <a:ext cx="8219256" cy="613954"/>
          </a:xfrm>
        </p:spPr>
        <p:txBody>
          <a:bodyPr>
            <a:normAutofit/>
          </a:bodyPr>
          <a:lstStyle/>
          <a:p>
            <a:r>
              <a:rPr lang="en-PH" sz="3200" dirty="0">
                <a:solidFill>
                  <a:schemeClr val="accent1"/>
                </a:solidFill>
                <a:latin typeface="Arial" panose="020B0604020202020204" pitchFamily="34" charset="0"/>
                <a:cs typeface="Arial" panose="020B0604020202020204" pitchFamily="34" charset="0"/>
              </a:rPr>
              <a:t>What is PHYSICAL EDUCATION </a:t>
            </a:r>
          </a:p>
        </p:txBody>
      </p:sp>
      <p:sp>
        <p:nvSpPr>
          <p:cNvPr id="3" name="Content Placeholder 2"/>
          <p:cNvSpPr>
            <a:spLocks noGrp="1"/>
          </p:cNvSpPr>
          <p:nvPr>
            <p:ph idx="1"/>
          </p:nvPr>
        </p:nvSpPr>
        <p:spPr>
          <a:xfrm>
            <a:off x="726544" y="1092871"/>
            <a:ext cx="10610150" cy="1286002"/>
          </a:xfrm>
        </p:spPr>
        <p:txBody>
          <a:bodyPr>
            <a:normAutofit/>
          </a:bodyPr>
          <a:lstStyle/>
          <a:p>
            <a:pPr marL="0" indent="0">
              <a:buNone/>
            </a:pPr>
            <a:r>
              <a:rPr lang="en-US" sz="2200" b="1" dirty="0">
                <a:latin typeface="Arial" panose="020B0604020202020204" pitchFamily="34" charset="0"/>
                <a:cs typeface="Arial" panose="020B0604020202020204" pitchFamily="34" charset="0"/>
              </a:rPr>
              <a:t>Is an integral part</a:t>
            </a:r>
            <a:r>
              <a:rPr lang="en-US" sz="2200" dirty="0">
                <a:latin typeface="Arial" panose="020B0604020202020204" pitchFamily="34" charset="0"/>
                <a:cs typeface="Arial" panose="020B0604020202020204" pitchFamily="34" charset="0"/>
              </a:rPr>
              <a:t> of the </a:t>
            </a:r>
            <a:r>
              <a:rPr lang="en-US" sz="2200" b="1" dirty="0">
                <a:latin typeface="Arial" panose="020B0604020202020204" pitchFamily="34" charset="0"/>
                <a:cs typeface="Arial" panose="020B0604020202020204" pitchFamily="34" charset="0"/>
              </a:rPr>
              <a:t>education program</a:t>
            </a:r>
            <a:r>
              <a:rPr lang="en-US" sz="2200" dirty="0">
                <a:latin typeface="Arial" panose="020B0604020202020204" pitchFamily="34" charset="0"/>
                <a:cs typeface="Arial" panose="020B0604020202020204" pitchFamily="34" charset="0"/>
              </a:rPr>
              <a:t> which aims to promote optimum development of an individual physically, mentally, socially, emotionally and even spiritually in the performance of properly selected </a:t>
            </a:r>
            <a:r>
              <a:rPr lang="en-US" sz="2200" b="1" dirty="0">
                <a:latin typeface="Arial" panose="020B0604020202020204" pitchFamily="34" charset="0"/>
                <a:cs typeface="Arial" panose="020B0604020202020204" pitchFamily="34" charset="0"/>
              </a:rPr>
              <a:t>physical</a:t>
            </a:r>
            <a:r>
              <a:rPr lang="en-US" sz="2200" dirty="0">
                <a:latin typeface="Arial" panose="020B0604020202020204" pitchFamily="34" charset="0"/>
                <a:cs typeface="Arial" panose="020B0604020202020204" pitchFamily="34" charset="0"/>
              </a:rPr>
              <a:t> activities.</a:t>
            </a:r>
            <a:endParaRPr lang="en-PH" sz="2200" dirty="0">
              <a:latin typeface="Arial" panose="020B0604020202020204" pitchFamily="34" charset="0"/>
              <a:cs typeface="Arial" panose="020B0604020202020204" pitchFamily="34" charset="0"/>
            </a:endParaRPr>
          </a:p>
          <a:p>
            <a:pPr marL="0" indent="0">
              <a:buNone/>
            </a:pPr>
            <a:endParaRPr lang="en-PH" dirty="0"/>
          </a:p>
        </p:txBody>
      </p:sp>
      <p:sp>
        <p:nvSpPr>
          <p:cNvPr id="5" name="TextBox 4">
            <a:extLst>
              <a:ext uri="{FF2B5EF4-FFF2-40B4-BE49-F238E27FC236}">
                <a16:creationId xmlns:a16="http://schemas.microsoft.com/office/drawing/2014/main" id="{BCF2E420-5A75-982D-7050-286CFE4E543E}"/>
              </a:ext>
            </a:extLst>
          </p:cNvPr>
          <p:cNvSpPr txBox="1"/>
          <p:nvPr/>
        </p:nvSpPr>
        <p:spPr>
          <a:xfrm>
            <a:off x="819850" y="2460315"/>
            <a:ext cx="3349690" cy="584775"/>
          </a:xfrm>
          <a:prstGeom prst="rect">
            <a:avLst/>
          </a:prstGeom>
          <a:noFill/>
        </p:spPr>
        <p:txBody>
          <a:bodyPr wrap="square" rtlCol="0">
            <a:spAutoFit/>
          </a:bodyPr>
          <a:lstStyle/>
          <a:p>
            <a:r>
              <a:rPr lang="en-PH" sz="3200" b="1" dirty="0">
                <a:solidFill>
                  <a:schemeClr val="accent1"/>
                </a:solidFill>
                <a:latin typeface="Arial" panose="020B0604020202020204" pitchFamily="34" charset="0"/>
                <a:cs typeface="Arial" panose="020B0604020202020204" pitchFamily="34" charset="0"/>
              </a:rPr>
              <a:t>Brief History </a:t>
            </a:r>
          </a:p>
        </p:txBody>
      </p:sp>
      <p:sp>
        <p:nvSpPr>
          <p:cNvPr id="6" name="TextBox 5">
            <a:extLst>
              <a:ext uri="{FF2B5EF4-FFF2-40B4-BE49-F238E27FC236}">
                <a16:creationId xmlns:a16="http://schemas.microsoft.com/office/drawing/2014/main" id="{3FA50F80-9BB3-14D3-6754-2DAE31B0AF2A}"/>
              </a:ext>
            </a:extLst>
          </p:cNvPr>
          <p:cNvSpPr txBox="1"/>
          <p:nvPr/>
        </p:nvSpPr>
        <p:spPr>
          <a:xfrm>
            <a:off x="726544" y="3045090"/>
            <a:ext cx="11019452"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Physical Education has existed since the earliest stages of humanity, in areas as simple as where knowledge of basic survival.</a:t>
            </a:r>
          </a:p>
          <a:p>
            <a:endParaRPr lang="en-US" sz="2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Ancient Romans – component of military trainings</a:t>
            </a:r>
          </a:p>
          <a:p>
            <a:endParaRPr lang="en-US" sz="2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Ancient Greeks – Form of entertainment</a:t>
            </a:r>
          </a:p>
          <a:p>
            <a:endParaRPr lang="en-US" sz="2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Middle Ages – sports are considered sinful</a:t>
            </a:r>
          </a:p>
        </p:txBody>
      </p:sp>
    </p:spTree>
    <p:extLst>
      <p:ext uri="{BB962C8B-B14F-4D97-AF65-F5344CB8AC3E}">
        <p14:creationId xmlns:p14="http://schemas.microsoft.com/office/powerpoint/2010/main" val="117868760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4255" y="214257"/>
            <a:ext cx="10911840" cy="1051560"/>
          </a:xfrm>
        </p:spPr>
        <p:txBody>
          <a:bodyPr>
            <a:normAutofit fontScale="90000"/>
          </a:bodyPr>
          <a:lstStyle/>
          <a:p>
            <a:r>
              <a:rPr lang="en-PH" b="1" dirty="0">
                <a:solidFill>
                  <a:schemeClr val="tx1"/>
                </a:solidFill>
              </a:rPr>
              <a:t> </a:t>
            </a:r>
            <a:br>
              <a:rPr lang="en-PH" dirty="0">
                <a:solidFill>
                  <a:schemeClr val="tx1"/>
                </a:solidFill>
              </a:rPr>
            </a:br>
            <a:endParaRPr lang="en-PH" dirty="0">
              <a:solidFill>
                <a:schemeClr val="tx1"/>
              </a:solidFill>
            </a:endParaRPr>
          </a:p>
        </p:txBody>
      </p:sp>
      <p:sp>
        <p:nvSpPr>
          <p:cNvPr id="3" name="Content Placeholder 2"/>
          <p:cNvSpPr>
            <a:spLocks noGrp="1"/>
          </p:cNvSpPr>
          <p:nvPr>
            <p:ph idx="1"/>
          </p:nvPr>
        </p:nvSpPr>
        <p:spPr>
          <a:xfrm>
            <a:off x="550506" y="1166327"/>
            <a:ext cx="11056776" cy="5307625"/>
          </a:xfrm>
        </p:spPr>
        <p:txBody>
          <a:bodyPr/>
          <a:lstStyle/>
          <a:p>
            <a:r>
              <a:rPr lang="en-US" sz="2200" b="1" dirty="0">
                <a:latin typeface="Arial" panose="020B0604020202020204" pitchFamily="34" charset="0"/>
                <a:cs typeface="Arial" panose="020B0604020202020204" pitchFamily="34" charset="0"/>
              </a:rPr>
              <a:t>Physical development </a:t>
            </a:r>
            <a:r>
              <a:rPr lang="en-US" sz="2200" dirty="0">
                <a:latin typeface="Arial" panose="020B0604020202020204" pitchFamily="34" charset="0"/>
                <a:cs typeface="Arial" panose="020B0604020202020204" pitchFamily="34" charset="0"/>
              </a:rPr>
              <a:t>- To be able to maintain lifelong health and high level of physical fitness, one should actively participate in physical activities.</a:t>
            </a:r>
          </a:p>
          <a:p>
            <a:pPr marL="0" indent="0">
              <a:buNone/>
            </a:pPr>
            <a:endParaRPr lang="en-PH" sz="2200" dirty="0">
              <a:latin typeface="Arial" panose="020B0604020202020204" pitchFamily="34" charset="0"/>
              <a:cs typeface="Arial" panose="020B0604020202020204" pitchFamily="34" charset="0"/>
            </a:endParaRPr>
          </a:p>
          <a:p>
            <a:r>
              <a:rPr lang="en-US" sz="2200" b="1" dirty="0">
                <a:latin typeface="Arial" panose="020B0604020202020204" pitchFamily="34" charset="0"/>
                <a:cs typeface="Arial" panose="020B0604020202020204" pitchFamily="34" charset="0"/>
              </a:rPr>
              <a:t>Social development </a:t>
            </a:r>
            <a:r>
              <a:rPr lang="en-US" sz="2200" dirty="0">
                <a:latin typeface="Arial" panose="020B0604020202020204" pitchFamily="34" charset="0"/>
                <a:cs typeface="Arial" panose="020B0604020202020204" pitchFamily="34" charset="0"/>
              </a:rPr>
              <a:t>- One can acquire desirable social traits through participation in sports related activities.</a:t>
            </a:r>
          </a:p>
          <a:p>
            <a:endParaRPr lang="en-PH" sz="2200" dirty="0">
              <a:latin typeface="Arial" panose="020B0604020202020204" pitchFamily="34" charset="0"/>
              <a:cs typeface="Arial" panose="020B0604020202020204" pitchFamily="34" charset="0"/>
            </a:endParaRPr>
          </a:p>
          <a:p>
            <a:pPr>
              <a:buClr>
                <a:srgbClr val="F07F09"/>
              </a:buClr>
            </a:pPr>
            <a:r>
              <a:rPr lang="en-US" sz="2200" b="1" dirty="0">
                <a:solidFill>
                  <a:prstClr val="black"/>
                </a:solidFill>
                <a:latin typeface="Arial" panose="020B0604020202020204" pitchFamily="34" charset="0"/>
                <a:cs typeface="Arial" panose="020B0604020202020204" pitchFamily="34" charset="0"/>
              </a:rPr>
              <a:t>Emotional development - </a:t>
            </a:r>
            <a:r>
              <a:rPr lang="en-US" sz="2200" dirty="0">
                <a:solidFill>
                  <a:prstClr val="black"/>
                </a:solidFill>
                <a:latin typeface="Arial" panose="020B0604020202020204" pitchFamily="34" charset="0"/>
                <a:cs typeface="Arial" panose="020B0604020202020204" pitchFamily="34" charset="0"/>
              </a:rPr>
              <a:t>Physical Education activities provide opportunities for self-expression and emotional mastery.</a:t>
            </a:r>
          </a:p>
          <a:p>
            <a:pPr>
              <a:buClr>
                <a:srgbClr val="F07F09"/>
              </a:buClr>
            </a:pPr>
            <a:endParaRPr lang="en-PH" sz="2200" dirty="0">
              <a:solidFill>
                <a:prstClr val="black"/>
              </a:solidFill>
              <a:latin typeface="Arial" panose="020B0604020202020204" pitchFamily="34" charset="0"/>
              <a:cs typeface="Arial" panose="020B0604020202020204" pitchFamily="34" charset="0"/>
            </a:endParaRPr>
          </a:p>
          <a:p>
            <a:pPr>
              <a:buClr>
                <a:srgbClr val="F07F09"/>
              </a:buClr>
            </a:pPr>
            <a:r>
              <a:rPr lang="en-US" sz="2200" b="1" dirty="0">
                <a:solidFill>
                  <a:prstClr val="black"/>
                </a:solidFill>
                <a:latin typeface="Arial" panose="020B0604020202020204" pitchFamily="34" charset="0"/>
                <a:cs typeface="Arial" panose="020B0604020202020204" pitchFamily="34" charset="0"/>
              </a:rPr>
              <a:t>Mental development </a:t>
            </a:r>
            <a:r>
              <a:rPr lang="en-PH" sz="2200" b="1" dirty="0">
                <a:solidFill>
                  <a:prstClr val="black"/>
                </a:solidFill>
                <a:latin typeface="Arial" panose="020B0604020202020204" pitchFamily="34" charset="0"/>
                <a:cs typeface="Arial" panose="020B0604020202020204" pitchFamily="34" charset="0"/>
              </a:rPr>
              <a:t>- </a:t>
            </a:r>
            <a:r>
              <a:rPr lang="en-US" sz="2200" dirty="0">
                <a:solidFill>
                  <a:prstClr val="black"/>
                </a:solidFill>
                <a:latin typeface="Arial" panose="020B0604020202020204" pitchFamily="34" charset="0"/>
                <a:cs typeface="Arial" panose="020B0604020202020204" pitchFamily="34" charset="0"/>
              </a:rPr>
              <a:t>Individual develops his mental capacities as he learns different activities.</a:t>
            </a:r>
          </a:p>
          <a:p>
            <a:pPr>
              <a:buClr>
                <a:srgbClr val="F07F09"/>
              </a:buClr>
            </a:pPr>
            <a:endParaRPr lang="en-US" sz="2200" dirty="0">
              <a:solidFill>
                <a:prstClr val="black"/>
              </a:solidFill>
              <a:latin typeface="Arial" panose="020B0604020202020204" pitchFamily="34" charset="0"/>
              <a:cs typeface="Arial" panose="020B0604020202020204" pitchFamily="34" charset="0"/>
            </a:endParaRPr>
          </a:p>
          <a:p>
            <a:pPr algn="just">
              <a:buClr>
                <a:srgbClr val="F07F09"/>
              </a:buClr>
            </a:pPr>
            <a:r>
              <a:rPr lang="en-US" sz="2200" b="1" dirty="0">
                <a:solidFill>
                  <a:prstClr val="black"/>
                </a:solidFill>
                <a:latin typeface="Arial" panose="020B0604020202020204" pitchFamily="34" charset="0"/>
                <a:cs typeface="Arial" panose="020B0604020202020204" pitchFamily="34" charset="0"/>
              </a:rPr>
              <a:t>Spiritual development </a:t>
            </a:r>
            <a:r>
              <a:rPr lang="en-US" sz="2200" dirty="0">
                <a:solidFill>
                  <a:prstClr val="black"/>
                </a:solidFill>
                <a:latin typeface="Arial" panose="020B0604020202020204" pitchFamily="34" charset="0"/>
                <a:cs typeface="Arial" panose="020B0604020202020204" pitchFamily="34" charset="0"/>
              </a:rPr>
              <a:t>- Strengthening a set of beliefs, principles or values that sustain an individual's sense of well-being and purpose. </a:t>
            </a:r>
          </a:p>
          <a:p>
            <a:pPr marL="0" indent="0">
              <a:buNone/>
            </a:pPr>
            <a:endParaRPr lang="en-PH" dirty="0"/>
          </a:p>
        </p:txBody>
      </p:sp>
      <p:sp>
        <p:nvSpPr>
          <p:cNvPr id="4" name="TextBox 3">
            <a:extLst>
              <a:ext uri="{FF2B5EF4-FFF2-40B4-BE49-F238E27FC236}">
                <a16:creationId xmlns:a16="http://schemas.microsoft.com/office/drawing/2014/main" id="{968D2EBE-CF5E-A2F1-36EE-04E48405B9C6}"/>
              </a:ext>
            </a:extLst>
          </p:cNvPr>
          <p:cNvSpPr txBox="1"/>
          <p:nvPr/>
        </p:nvSpPr>
        <p:spPr>
          <a:xfrm>
            <a:off x="1493668" y="396886"/>
            <a:ext cx="9675845" cy="769441"/>
          </a:xfrm>
          <a:prstGeom prst="rect">
            <a:avLst/>
          </a:prstGeom>
          <a:noFill/>
        </p:spPr>
        <p:txBody>
          <a:bodyPr wrap="square" rtlCol="0">
            <a:spAutoFit/>
          </a:bodyPr>
          <a:lstStyle/>
          <a:p>
            <a:r>
              <a:rPr kumimoji="0" lang="en-PH" sz="4400" b="1" i="0" u="none" strike="noStrike" kern="1200" cap="none" spc="0" normalizeH="0" baseline="0" noProof="0">
                <a:ln>
                  <a:noFill/>
                </a:ln>
                <a:solidFill>
                  <a:srgbClr val="F07F09">
                    <a:tint val="88000"/>
                    <a:satMod val="150000"/>
                  </a:srgbClr>
                </a:solidFill>
                <a:effectLst>
                  <a:outerShdw blurRad="53975" dist="22860" dir="5400000" algn="tl" rotWithShape="0">
                    <a:srgbClr val="000000">
                      <a:alpha val="55000"/>
                    </a:srgbClr>
                  </a:outerShdw>
                </a:effectLst>
                <a:uLnTx/>
                <a:uFillTx/>
                <a:latin typeface="Arial" panose="020B0604020202020204" pitchFamily="34" charset="0"/>
                <a:ea typeface="+mj-ea"/>
                <a:cs typeface="Arial" panose="020B0604020202020204" pitchFamily="34" charset="0"/>
              </a:rPr>
              <a:t>Objectives of Physical Education</a:t>
            </a:r>
            <a:endParaRPr lang="en-PH" dirty="0"/>
          </a:p>
        </p:txBody>
      </p:sp>
    </p:spTree>
    <p:extLst>
      <p:ext uri="{BB962C8B-B14F-4D97-AF65-F5344CB8AC3E}">
        <p14:creationId xmlns:p14="http://schemas.microsoft.com/office/powerpoint/2010/main" val="1298035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110" y="334036"/>
            <a:ext cx="9577988" cy="1051560"/>
          </a:xfrm>
        </p:spPr>
        <p:txBody>
          <a:bodyPr>
            <a:noAutofit/>
          </a:bodyPr>
          <a:lstStyle/>
          <a:p>
            <a:r>
              <a:rPr lang="en-PH" sz="5200" b="1" dirty="0">
                <a:latin typeface="Arial" panose="020B0604020202020204" pitchFamily="34" charset="0"/>
                <a:cs typeface="Arial" panose="020B0604020202020204" pitchFamily="34" charset="0"/>
              </a:rPr>
              <a:t>Fitness</a:t>
            </a:r>
            <a:endParaRPr lang="en-PH" sz="52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15819" y="992124"/>
            <a:ext cx="11000793" cy="4873752"/>
          </a:xfrm>
        </p:spPr>
        <p:txBody>
          <a:bodyPr/>
          <a:lstStyle/>
          <a:p>
            <a:pPr lvl="0" algn="just"/>
            <a:endParaRPr lang="en-US" dirty="0"/>
          </a:p>
          <a:p>
            <a:pPr lvl="0" algn="just"/>
            <a:r>
              <a:rPr lang="en-US" sz="2200" dirty="0">
                <a:latin typeface="Arial" panose="020B0604020202020204" pitchFamily="34" charset="0"/>
                <a:cs typeface="Arial" panose="020B0604020202020204" pitchFamily="34" charset="0"/>
              </a:rPr>
              <a:t>The ability to carry out daily tasks efficiently with enough physical capacity to cope with the physical needs of life.</a:t>
            </a:r>
            <a:endParaRPr lang="en-PH" sz="2200" dirty="0">
              <a:latin typeface="Arial" panose="020B0604020202020204" pitchFamily="34" charset="0"/>
              <a:cs typeface="Arial" panose="020B0604020202020204" pitchFamily="34" charset="0"/>
            </a:endParaRPr>
          </a:p>
          <a:p>
            <a:pPr lvl="0" algn="just"/>
            <a:r>
              <a:rPr lang="en-US" sz="2200" dirty="0">
                <a:latin typeface="Arial" panose="020B0604020202020204" pitchFamily="34" charset="0"/>
                <a:cs typeface="Arial" panose="020B0604020202020204" pitchFamily="34" charset="0"/>
              </a:rPr>
              <a:t>States that it is the ability to carry out daily tasks efficiently with enough energy left over to enjoy leisure time pursuits and to meet unforeseen emergencies.</a:t>
            </a:r>
            <a:endParaRPr lang="en-PH" sz="2200" dirty="0">
              <a:latin typeface="Arial" panose="020B0604020202020204" pitchFamily="34" charset="0"/>
              <a:cs typeface="Arial" panose="020B0604020202020204" pitchFamily="34" charset="0"/>
            </a:endParaRPr>
          </a:p>
          <a:p>
            <a:endParaRPr lang="en-PH" dirty="0"/>
          </a:p>
        </p:txBody>
      </p:sp>
      <p:sp>
        <p:nvSpPr>
          <p:cNvPr id="4" name="TextBox 3">
            <a:extLst>
              <a:ext uri="{FF2B5EF4-FFF2-40B4-BE49-F238E27FC236}">
                <a16:creationId xmlns:a16="http://schemas.microsoft.com/office/drawing/2014/main" id="{2A4EF81B-EFA4-9F5A-37C4-47E2B33E30E6}"/>
              </a:ext>
            </a:extLst>
          </p:cNvPr>
          <p:cNvSpPr txBox="1"/>
          <p:nvPr/>
        </p:nvSpPr>
        <p:spPr>
          <a:xfrm>
            <a:off x="765109" y="3044279"/>
            <a:ext cx="5887616" cy="769441"/>
          </a:xfrm>
          <a:prstGeom prst="rect">
            <a:avLst/>
          </a:prstGeom>
          <a:noFill/>
        </p:spPr>
        <p:txBody>
          <a:bodyPr wrap="square" rtlCol="0">
            <a:spAutoFit/>
          </a:bodyPr>
          <a:lstStyle/>
          <a:p>
            <a:r>
              <a:rPr kumimoji="0" lang="en-PH" sz="4400" b="1" i="0" u="none" strike="noStrike" kern="1200" cap="none" spc="0" normalizeH="0" baseline="0" noProof="0" dirty="0">
                <a:ln>
                  <a:noFill/>
                </a:ln>
                <a:solidFill>
                  <a:srgbClr val="F07F09">
                    <a:tint val="88000"/>
                    <a:satMod val="150000"/>
                  </a:srgbClr>
                </a:solidFill>
                <a:effectLst>
                  <a:outerShdw blurRad="53975" dist="22860" dir="5400000" algn="tl" rotWithShape="0">
                    <a:srgbClr val="000000">
                      <a:alpha val="55000"/>
                    </a:srgbClr>
                  </a:outerShdw>
                </a:effectLst>
                <a:uLnTx/>
                <a:uFillTx/>
                <a:latin typeface="Verdana"/>
                <a:ea typeface="+mj-ea"/>
                <a:cs typeface="+mj-cs"/>
              </a:rPr>
              <a:t>Physical Fitness</a:t>
            </a:r>
            <a:endParaRPr lang="en-PH" dirty="0"/>
          </a:p>
        </p:txBody>
      </p:sp>
      <p:sp>
        <p:nvSpPr>
          <p:cNvPr id="5" name="TextBox 4">
            <a:extLst>
              <a:ext uri="{FF2B5EF4-FFF2-40B4-BE49-F238E27FC236}">
                <a16:creationId xmlns:a16="http://schemas.microsoft.com/office/drawing/2014/main" id="{1E2E54E1-8991-4F71-3008-0389165A93C6}"/>
              </a:ext>
            </a:extLst>
          </p:cNvPr>
          <p:cNvSpPr txBox="1"/>
          <p:nvPr/>
        </p:nvSpPr>
        <p:spPr>
          <a:xfrm>
            <a:off x="690464" y="3813720"/>
            <a:ext cx="10811071" cy="207749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250"/>
              </a:spcBef>
              <a:spcAft>
                <a:spcPts val="0"/>
              </a:spcAft>
              <a:buClr>
                <a:srgbClr val="F07F09"/>
              </a:buClr>
              <a:buSzPct val="80000"/>
              <a:buFont typeface="Wingdings 2"/>
              <a:buNone/>
              <a:tabLst/>
              <a:defRPr/>
            </a:pPr>
            <a:r>
              <a:rPr kumimoji="0" lang="en-US" sz="2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ability to carry out daily tasks with vigor and alertness, without undue fatigue, and with ample energy to enjoy leisure time pursuits and to meet unforeseen emergencies.</a:t>
            </a:r>
            <a:endParaRPr kumimoji="0" lang="en-PH" sz="2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50"/>
              </a:spcBef>
              <a:spcAft>
                <a:spcPts val="0"/>
              </a:spcAft>
              <a:buClr>
                <a:srgbClr val="F07F09"/>
              </a:buClr>
              <a:buSzPct val="80000"/>
              <a:buFont typeface="Wingdings 2"/>
              <a:buNone/>
              <a:tabLst/>
              <a:defRPr/>
            </a:pPr>
            <a:endParaRPr kumimoji="0" lang="en-PH" sz="2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250"/>
              </a:spcBef>
              <a:spcAft>
                <a:spcPts val="0"/>
              </a:spcAft>
              <a:buClr>
                <a:srgbClr val="F07F09"/>
              </a:buClr>
              <a:buSzPct val="80000"/>
              <a:buFont typeface="Wingdings 2"/>
              <a:buNone/>
              <a:tabLst/>
              <a:defRPr/>
            </a:pPr>
            <a:r>
              <a:rPr kumimoji="0" lang="en-US"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(Physical fitness at any age depends upon eating the correct foods, having sufficient rest, taking adequate daily exercise, and maintaining a strong mental attitude.)</a:t>
            </a:r>
            <a:endParaRPr kumimoji="0" lang="en-PH"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209302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508333"/>
            <a:ext cx="10911840" cy="586335"/>
          </a:xfrm>
        </p:spPr>
        <p:txBody>
          <a:bodyPr>
            <a:normAutofit/>
          </a:bodyPr>
          <a:lstStyle/>
          <a:p>
            <a:pPr algn="ctr"/>
            <a:r>
              <a:rPr lang="en-US" sz="3200" b="1" dirty="0"/>
              <a:t>Physical Education</a:t>
            </a:r>
          </a:p>
        </p:txBody>
      </p:sp>
      <p:sp>
        <p:nvSpPr>
          <p:cNvPr id="3" name="Content Placeholder 2"/>
          <p:cNvSpPr>
            <a:spLocks noGrp="1"/>
          </p:cNvSpPr>
          <p:nvPr>
            <p:ph idx="1"/>
          </p:nvPr>
        </p:nvSpPr>
        <p:spPr>
          <a:xfrm>
            <a:off x="558592" y="1222309"/>
            <a:ext cx="10911840" cy="4711959"/>
          </a:xfrm>
        </p:spPr>
        <p:txBody>
          <a:bodyPr>
            <a:normAutofit fontScale="32500" lnSpcReduction="20000"/>
          </a:bodyPr>
          <a:lstStyle/>
          <a:p>
            <a:r>
              <a:rPr lang="en-US" sz="6000" b="1" dirty="0">
                <a:latin typeface="Arial" panose="020B0604020202020204" pitchFamily="34" charset="0"/>
                <a:cs typeface="Arial" panose="020B0604020202020204" pitchFamily="34" charset="0"/>
              </a:rPr>
              <a:t>FITNESS-</a:t>
            </a:r>
            <a:r>
              <a:rPr lang="en-US" sz="6000" dirty="0">
                <a:latin typeface="Arial" panose="020B0604020202020204" pitchFamily="34" charset="0"/>
                <a:cs typeface="Arial" panose="020B0604020202020204" pitchFamily="34" charset="0"/>
              </a:rPr>
              <a:t> Is the ultimate goal of physical education. The ability to live a healthy, useful and satisfying life. </a:t>
            </a:r>
          </a:p>
          <a:p>
            <a:pPr marL="0" indent="0">
              <a:buNone/>
            </a:pPr>
            <a:r>
              <a:rPr lang="en-US" sz="6000" dirty="0">
                <a:latin typeface="Arial" panose="020B0604020202020204" pitchFamily="34" charset="0"/>
                <a:cs typeface="Arial" panose="020B0604020202020204" pitchFamily="34" charset="0"/>
              </a:rPr>
              <a:t> </a:t>
            </a:r>
          </a:p>
          <a:p>
            <a:r>
              <a:rPr lang="en-US" sz="6000" b="1" dirty="0">
                <a:latin typeface="Arial" panose="020B0604020202020204" pitchFamily="34" charset="0"/>
                <a:cs typeface="Arial" panose="020B0604020202020204" pitchFamily="34" charset="0"/>
              </a:rPr>
              <a:t>ILLNESS-</a:t>
            </a:r>
            <a:r>
              <a:rPr lang="en-US" sz="6000" dirty="0">
                <a:latin typeface="Arial" panose="020B0604020202020204" pitchFamily="34" charset="0"/>
                <a:cs typeface="Arial" panose="020B0604020202020204" pitchFamily="34" charset="0"/>
              </a:rPr>
              <a:t> Illness is the ill feeling and /or symptoms associated with disease or a circumstance that upsets homeostasis.</a:t>
            </a:r>
          </a:p>
          <a:p>
            <a:pPr marL="0" indent="0">
              <a:buNone/>
            </a:pPr>
            <a:r>
              <a:rPr lang="en-US" sz="6000" dirty="0">
                <a:latin typeface="Arial" panose="020B0604020202020204" pitchFamily="34" charset="0"/>
                <a:cs typeface="Arial" panose="020B0604020202020204" pitchFamily="34" charset="0"/>
              </a:rPr>
              <a:t> </a:t>
            </a:r>
          </a:p>
          <a:p>
            <a:r>
              <a:rPr lang="en-US" sz="6000" b="1" dirty="0">
                <a:latin typeface="Arial" panose="020B0604020202020204" pitchFamily="34" charset="0"/>
                <a:cs typeface="Arial" panose="020B0604020202020204" pitchFamily="34" charset="0"/>
              </a:rPr>
              <a:t>HEALTH-</a:t>
            </a:r>
            <a:r>
              <a:rPr lang="en-US" sz="6000" dirty="0">
                <a:latin typeface="Arial" panose="020B0604020202020204" pitchFamily="34" charset="0"/>
                <a:cs typeface="Arial" panose="020B0604020202020204" pitchFamily="34" charset="0"/>
              </a:rPr>
              <a:t> is the optimal well-being that contributes to the quality of life.  It is more than freedom from disease and illness, through freedom from disease is important to good health.  Optimal health includes high-level mental, social, emotional, spiritual and physical wellness within the limits of one’s heredity and personal abilities</a:t>
            </a:r>
          </a:p>
          <a:p>
            <a:pPr marL="0" indent="0">
              <a:buNone/>
            </a:pPr>
            <a:r>
              <a:rPr lang="en-US" sz="6000" dirty="0">
                <a:latin typeface="Arial" panose="020B0604020202020204" pitchFamily="34" charset="0"/>
                <a:cs typeface="Arial" panose="020B0604020202020204" pitchFamily="34" charset="0"/>
              </a:rPr>
              <a:t> </a:t>
            </a:r>
          </a:p>
          <a:p>
            <a:r>
              <a:rPr lang="en-US" sz="6000" b="1" dirty="0">
                <a:latin typeface="Arial" panose="020B0604020202020204" pitchFamily="34" charset="0"/>
                <a:cs typeface="Arial" panose="020B0604020202020204" pitchFamily="34" charset="0"/>
              </a:rPr>
              <a:t>WELLNESS</a:t>
            </a:r>
            <a:r>
              <a:rPr lang="en-US" sz="6000" dirty="0">
                <a:latin typeface="Arial" panose="020B0604020202020204" pitchFamily="34" charset="0"/>
                <a:cs typeface="Arial" panose="020B0604020202020204" pitchFamily="34" charset="0"/>
              </a:rPr>
              <a:t>- is the integration of many different components (mental, social, physical, emotional and spiritual) that expand one’s potential to live (quality of life) and work effectively and make a significant contribution to society.  Wellness reflects how one can feels (a sense of well being) about life as well as one’s ability to function effectively. Wellness, as opposed to illness (a negative), is sometimes described as the positive components.</a:t>
            </a:r>
          </a:p>
          <a:p>
            <a:endParaRPr lang="en-US" dirty="0"/>
          </a:p>
        </p:txBody>
      </p:sp>
    </p:spTree>
    <p:extLst>
      <p:ext uri="{BB962C8B-B14F-4D97-AF65-F5344CB8AC3E}">
        <p14:creationId xmlns:p14="http://schemas.microsoft.com/office/powerpoint/2010/main" val="3564929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8016" y="523447"/>
            <a:ext cx="10911840" cy="1051560"/>
          </a:xfrm>
        </p:spPr>
        <p:txBody>
          <a:bodyPr>
            <a:normAutofit fontScale="90000"/>
          </a:bodyPr>
          <a:lstStyle/>
          <a:p>
            <a:r>
              <a:rPr lang="en-PH" sz="3100" b="1" dirty="0">
                <a:solidFill>
                  <a:schemeClr val="accent1"/>
                </a:solidFill>
                <a:latin typeface="Arial" panose="020B0604020202020204" pitchFamily="34" charset="0"/>
                <a:cs typeface="Arial" panose="020B0604020202020204" pitchFamily="34" charset="0"/>
              </a:rPr>
              <a:t>Aspects of Fitness</a:t>
            </a:r>
            <a:br>
              <a:rPr lang="en-PH" dirty="0"/>
            </a:br>
            <a:endParaRPr lang="en-PH" dirty="0"/>
          </a:p>
        </p:txBody>
      </p:sp>
      <p:sp>
        <p:nvSpPr>
          <p:cNvPr id="3" name="Content Placeholder 2"/>
          <p:cNvSpPr>
            <a:spLocks noGrp="1"/>
          </p:cNvSpPr>
          <p:nvPr>
            <p:ph idx="1"/>
          </p:nvPr>
        </p:nvSpPr>
        <p:spPr>
          <a:xfrm>
            <a:off x="399442" y="1157401"/>
            <a:ext cx="11185135" cy="5103440"/>
          </a:xfrm>
        </p:spPr>
        <p:txBody>
          <a:bodyPr>
            <a:normAutofit/>
          </a:bodyPr>
          <a:lstStyle/>
          <a:p>
            <a:r>
              <a:rPr lang="en-US" sz="2200" b="1" dirty="0">
                <a:latin typeface="Arial" panose="020B0604020202020204" pitchFamily="34" charset="0"/>
                <a:cs typeface="Arial" panose="020B0604020202020204" pitchFamily="34" charset="0"/>
              </a:rPr>
              <a:t>Physical fitness -</a:t>
            </a:r>
            <a:r>
              <a:rPr lang="en-US" sz="2200" dirty="0">
                <a:latin typeface="Arial" panose="020B0604020202020204" pitchFamily="34" charset="0"/>
                <a:cs typeface="Arial" panose="020B0604020202020204" pitchFamily="34" charset="0"/>
              </a:rPr>
              <a:t> refers to the ability of an individual to perform his daily tasks efficiently without undue fatigue and has some extra “reserves” in case of emergency.</a:t>
            </a:r>
            <a:endParaRPr lang="en-PH" sz="2200" dirty="0">
              <a:latin typeface="Arial" panose="020B0604020202020204" pitchFamily="34" charset="0"/>
              <a:cs typeface="Arial" panose="020B0604020202020204" pitchFamily="34" charset="0"/>
            </a:endParaRPr>
          </a:p>
          <a:p>
            <a:r>
              <a:rPr lang="en-US" sz="2200" b="1" dirty="0">
                <a:latin typeface="Arial" panose="020B0604020202020204" pitchFamily="34" charset="0"/>
                <a:cs typeface="Arial" panose="020B0604020202020204" pitchFamily="34" charset="0"/>
              </a:rPr>
              <a:t>Social fitness - </a:t>
            </a:r>
            <a:r>
              <a:rPr lang="en-US" sz="2200" dirty="0">
                <a:latin typeface="Arial" panose="020B0604020202020204" pitchFamily="34" charset="0"/>
                <a:cs typeface="Arial" panose="020B0604020202020204" pitchFamily="34" charset="0"/>
              </a:rPr>
              <a:t>is the ability to mingle with different types of people and interest and concern for others.</a:t>
            </a:r>
            <a:endParaRPr lang="en-PH" sz="2200" dirty="0">
              <a:latin typeface="Arial" panose="020B0604020202020204" pitchFamily="34" charset="0"/>
              <a:cs typeface="Arial" panose="020B0604020202020204" pitchFamily="34" charset="0"/>
            </a:endParaRPr>
          </a:p>
          <a:p>
            <a:r>
              <a:rPr lang="en-US" sz="2200" b="1" dirty="0">
                <a:latin typeface="Arial" panose="020B0604020202020204" pitchFamily="34" charset="0"/>
                <a:cs typeface="Arial" panose="020B0604020202020204" pitchFamily="34" charset="0"/>
              </a:rPr>
              <a:t>Emotional fitness -</a:t>
            </a:r>
            <a:r>
              <a:rPr lang="en-US" sz="2200" dirty="0">
                <a:latin typeface="Arial" panose="020B0604020202020204" pitchFamily="34" charset="0"/>
                <a:cs typeface="Arial" panose="020B0604020202020204" pitchFamily="34" charset="0"/>
              </a:rPr>
              <a:t> refers to the ability of an individual to control his emotions or feelings.</a:t>
            </a:r>
            <a:endParaRPr lang="en-PH" sz="2200" dirty="0">
              <a:latin typeface="Arial" panose="020B0604020202020204" pitchFamily="34" charset="0"/>
              <a:cs typeface="Arial" panose="020B0604020202020204" pitchFamily="34" charset="0"/>
            </a:endParaRPr>
          </a:p>
          <a:p>
            <a:r>
              <a:rPr lang="en-US" sz="2200" b="1" dirty="0">
                <a:latin typeface="Arial" panose="020B0604020202020204" pitchFamily="34" charset="0"/>
                <a:cs typeface="Arial" panose="020B0604020202020204" pitchFamily="34" charset="0"/>
              </a:rPr>
              <a:t>Mental fitness - </a:t>
            </a:r>
            <a:r>
              <a:rPr lang="en-US" sz="2200" dirty="0">
                <a:latin typeface="Arial" panose="020B0604020202020204" pitchFamily="34" charset="0"/>
                <a:cs typeface="Arial" panose="020B0604020202020204" pitchFamily="34" charset="0"/>
              </a:rPr>
              <a:t>is the ability to cope with common problems of everyday living.</a:t>
            </a:r>
          </a:p>
          <a:p>
            <a:pPr algn="just">
              <a:buClr>
                <a:srgbClr val="F07F09"/>
              </a:buClr>
            </a:pPr>
            <a:r>
              <a:rPr lang="en-US" sz="2200" b="1" dirty="0">
                <a:latin typeface="Arial" panose="020B0604020202020204" pitchFamily="34" charset="0"/>
                <a:cs typeface="Arial" panose="020B0604020202020204" pitchFamily="34" charset="0"/>
              </a:rPr>
              <a:t>Spiritual Fitness - </a:t>
            </a:r>
            <a:r>
              <a:rPr lang="en-US" sz="2200" dirty="0">
                <a:latin typeface="Arial" panose="020B0604020202020204" pitchFamily="34" charset="0"/>
                <a:cs typeface="Arial" panose="020B0604020202020204" pitchFamily="34" charset="0"/>
              </a:rPr>
              <a:t>includes an individual's or group's ability to maintain beliefs, principles, and values needed to provide support in times of stress. Spiritual fitness includes the development of personal qualities needed to sustain a person in times of stress, hardship. and tragedy. </a:t>
            </a:r>
            <a:r>
              <a:rPr lang="en-US" sz="2200" b="1" u="sng" dirty="0">
                <a:solidFill>
                  <a:prstClr val="black"/>
                </a:solidFill>
                <a:latin typeface="Arial" panose="020B0604020202020204" pitchFamily="34" charset="0"/>
                <a:cs typeface="Arial" panose="020B0604020202020204" pitchFamily="34" charset="0"/>
              </a:rPr>
              <a:t>Spiritual fitness</a:t>
            </a:r>
            <a:r>
              <a:rPr lang="en-US" sz="2200" dirty="0">
                <a:solidFill>
                  <a:prstClr val="black"/>
                </a:solidFill>
                <a:latin typeface="Arial" panose="020B0604020202020204" pitchFamily="34" charset="0"/>
                <a:cs typeface="Arial" panose="020B0604020202020204" pitchFamily="34" charset="0"/>
              </a:rPr>
              <a:t> is about having a sense of purpose and </a:t>
            </a:r>
            <a:r>
              <a:rPr lang="en-US" sz="2200" b="1" dirty="0">
                <a:solidFill>
                  <a:prstClr val="black"/>
                </a:solidFill>
                <a:latin typeface="Arial" panose="020B0604020202020204" pitchFamily="34" charset="0"/>
                <a:cs typeface="Arial" panose="020B0604020202020204" pitchFamily="34" charset="0"/>
              </a:rPr>
              <a:t>meaning</a:t>
            </a:r>
            <a:r>
              <a:rPr lang="en-US" sz="2200" dirty="0">
                <a:solidFill>
                  <a:prstClr val="black"/>
                </a:solidFill>
                <a:latin typeface="Arial" panose="020B0604020202020204" pitchFamily="34" charset="0"/>
                <a:cs typeface="Arial" panose="020B0604020202020204" pitchFamily="34" charset="0"/>
              </a:rPr>
              <a:t> in your life. It's essential to an individual's resiliency as esprit de corps is vial to a unit's mission accomplishment</a:t>
            </a:r>
            <a:endParaRPr lang="en-PH" sz="2200" dirty="0">
              <a:solidFill>
                <a:prstClr val="black"/>
              </a:solidFill>
              <a:latin typeface="Arial" panose="020B0604020202020204" pitchFamily="34" charset="0"/>
              <a:cs typeface="Arial" panose="020B0604020202020204" pitchFamily="34" charset="0"/>
            </a:endParaRPr>
          </a:p>
          <a:p>
            <a:pPr marL="0" indent="0">
              <a:buNone/>
            </a:pPr>
            <a:endParaRPr lang="en-PH" sz="2200" dirty="0">
              <a:latin typeface="Arial" panose="020B0604020202020204" pitchFamily="34" charset="0"/>
              <a:cs typeface="Arial" panose="020B0604020202020204" pitchFamily="34" charset="0"/>
            </a:endParaRPr>
          </a:p>
          <a:p>
            <a:endParaRPr lang="en-PH" dirty="0"/>
          </a:p>
        </p:txBody>
      </p:sp>
    </p:spTree>
    <p:extLst>
      <p:ext uri="{BB962C8B-B14F-4D97-AF65-F5344CB8AC3E}">
        <p14:creationId xmlns:p14="http://schemas.microsoft.com/office/powerpoint/2010/main" val="1750296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8C73-8B9E-46FC-BB08-0DC3BE57F5D0}"/>
              </a:ext>
            </a:extLst>
          </p:cNvPr>
          <p:cNvSpPr>
            <a:spLocks noGrp="1"/>
          </p:cNvSpPr>
          <p:nvPr>
            <p:ph type="title"/>
          </p:nvPr>
        </p:nvSpPr>
        <p:spPr>
          <a:xfrm>
            <a:off x="640080" y="915333"/>
            <a:ext cx="10911840" cy="1051560"/>
          </a:xfrm>
        </p:spPr>
        <p:txBody>
          <a:bodyPr>
            <a:normAutofit/>
          </a:bodyPr>
          <a:lstStyle/>
          <a:p>
            <a:pPr algn="ctr"/>
            <a:r>
              <a:rPr lang="en-US" sz="5400" dirty="0"/>
              <a:t>Activity No. 1</a:t>
            </a:r>
          </a:p>
        </p:txBody>
      </p:sp>
      <p:graphicFrame>
        <p:nvGraphicFramePr>
          <p:cNvPr id="4" name="Content Placeholder 3">
            <a:extLst>
              <a:ext uri="{FF2B5EF4-FFF2-40B4-BE49-F238E27FC236}">
                <a16:creationId xmlns:a16="http://schemas.microsoft.com/office/drawing/2014/main" id="{7FF22BC3-B556-EDDD-E0A1-0D1846DE27BF}"/>
              </a:ext>
            </a:extLst>
          </p:cNvPr>
          <p:cNvGraphicFramePr>
            <a:graphicFrameLocks noGrp="1"/>
          </p:cNvGraphicFramePr>
          <p:nvPr>
            <p:ph idx="1"/>
            <p:extLst>
              <p:ext uri="{D42A27DB-BD31-4B8C-83A1-F6EECF244321}">
                <p14:modId xmlns:p14="http://schemas.microsoft.com/office/powerpoint/2010/main" val="64110461"/>
              </p:ext>
            </p:extLst>
          </p:nvPr>
        </p:nvGraphicFramePr>
        <p:xfrm>
          <a:off x="669925" y="2540317"/>
          <a:ext cx="10912475" cy="1664130"/>
        </p:xfrm>
        <a:graphic>
          <a:graphicData uri="http://schemas.openxmlformats.org/drawingml/2006/table">
            <a:tbl>
              <a:tblPr>
                <a:tableStyleId>{5C22544A-7EE6-4342-B048-85BDC9FD1C3A}</a:tableStyleId>
              </a:tblPr>
              <a:tblGrid>
                <a:gridCol w="10912475">
                  <a:extLst>
                    <a:ext uri="{9D8B030D-6E8A-4147-A177-3AD203B41FA5}">
                      <a16:colId xmlns:a16="http://schemas.microsoft.com/office/drawing/2014/main" val="2740361592"/>
                    </a:ext>
                  </a:extLst>
                </a:gridCol>
              </a:tblGrid>
              <a:tr h="1664130">
                <a:tc>
                  <a:txBody>
                    <a:bodyPr/>
                    <a:lstStyle/>
                    <a:p>
                      <a:pPr marL="0" marR="0" algn="ctr">
                        <a:spcBef>
                          <a:spcPts val="0"/>
                        </a:spcBef>
                        <a:spcAft>
                          <a:spcPts val="0"/>
                        </a:spcAft>
                      </a:pPr>
                      <a:r>
                        <a:rPr lang="en-US" sz="3600" dirty="0">
                          <a:effectLst/>
                        </a:rPr>
                        <a:t>Create a Poster Slogan Showing the five Objectives of Physical Education. Put in A4 </a:t>
                      </a:r>
                      <a:r>
                        <a:rPr lang="en-US" sz="3600" dirty="0" err="1">
                          <a:effectLst/>
                        </a:rPr>
                        <a:t>bondpaper</a:t>
                      </a:r>
                      <a:r>
                        <a:rPr lang="en-US" sz="3600" dirty="0">
                          <a:effectLst/>
                        </a:rPr>
                        <a:t> to be submit on next meeting.</a:t>
                      </a:r>
                      <a:endParaRPr lang="en-US" sz="3600" dirty="0">
                        <a:effectLst/>
                        <a:latin typeface="Times New Roman" panose="02020603050405020304" pitchFamily="18" charset="0"/>
                        <a:ea typeface="Times New Roman" panose="02020603050405020304" pitchFamily="18" charset="0"/>
                      </a:endParaRPr>
                    </a:p>
                  </a:txBody>
                  <a:tcPr marL="114300" marR="114300" marT="0" marB="0"/>
                </a:tc>
                <a:extLst>
                  <a:ext uri="{0D108BD9-81ED-4DB2-BD59-A6C34878D82A}">
                    <a16:rowId xmlns:a16="http://schemas.microsoft.com/office/drawing/2014/main" val="732045971"/>
                  </a:ext>
                </a:extLst>
              </a:tr>
            </a:tbl>
          </a:graphicData>
        </a:graphic>
      </p:graphicFrame>
    </p:spTree>
    <p:extLst>
      <p:ext uri="{BB962C8B-B14F-4D97-AF65-F5344CB8AC3E}">
        <p14:creationId xmlns:p14="http://schemas.microsoft.com/office/powerpoint/2010/main" val="593267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2F3F90A-3D87-E89B-7D71-CA139EE11904}"/>
              </a:ext>
            </a:extLst>
          </p:cNvPr>
          <p:cNvGraphicFramePr>
            <a:graphicFrameLocks noGrp="1"/>
          </p:cNvGraphicFramePr>
          <p:nvPr>
            <p:ph idx="1"/>
            <p:extLst>
              <p:ext uri="{D42A27DB-BD31-4B8C-83A1-F6EECF244321}">
                <p14:modId xmlns:p14="http://schemas.microsoft.com/office/powerpoint/2010/main" val="1692228179"/>
              </p:ext>
            </p:extLst>
          </p:nvPr>
        </p:nvGraphicFramePr>
        <p:xfrm>
          <a:off x="670560" y="3125737"/>
          <a:ext cx="10850880" cy="3017520"/>
        </p:xfrm>
        <a:graphic>
          <a:graphicData uri="http://schemas.openxmlformats.org/drawingml/2006/table">
            <a:tbl>
              <a:tblPr firstRow="1" bandRow="1">
                <a:tableStyleId>{5C22544A-7EE6-4342-B048-85BDC9FD1C3A}</a:tableStyleId>
              </a:tblPr>
              <a:tblGrid>
                <a:gridCol w="3616960">
                  <a:extLst>
                    <a:ext uri="{9D8B030D-6E8A-4147-A177-3AD203B41FA5}">
                      <a16:colId xmlns:a16="http://schemas.microsoft.com/office/drawing/2014/main" val="2041226594"/>
                    </a:ext>
                  </a:extLst>
                </a:gridCol>
                <a:gridCol w="3616960">
                  <a:extLst>
                    <a:ext uri="{9D8B030D-6E8A-4147-A177-3AD203B41FA5}">
                      <a16:colId xmlns:a16="http://schemas.microsoft.com/office/drawing/2014/main" val="1276383631"/>
                    </a:ext>
                  </a:extLst>
                </a:gridCol>
                <a:gridCol w="3616960">
                  <a:extLst>
                    <a:ext uri="{9D8B030D-6E8A-4147-A177-3AD203B41FA5}">
                      <a16:colId xmlns:a16="http://schemas.microsoft.com/office/drawing/2014/main" val="2599003820"/>
                    </a:ext>
                  </a:extLst>
                </a:gridCol>
              </a:tblGrid>
              <a:tr h="171839">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133309624"/>
                  </a:ext>
                </a:extLst>
              </a:tr>
              <a:tr h="687357">
                <a:tc>
                  <a:txBody>
                    <a:bodyPr/>
                    <a:lstStyle/>
                    <a:p>
                      <a:r>
                        <a:rPr lang="en-US" dirty="0"/>
                        <a:t>3.Impact of Slogan &amp; Clarity of Message</a:t>
                      </a:r>
                    </a:p>
                  </a:txBody>
                  <a:tcPr/>
                </a:tc>
                <a:tc>
                  <a:txBody>
                    <a:bodyPr/>
                    <a:lstStyle/>
                    <a:p>
                      <a:r>
                        <a:rPr lang="en-US" dirty="0"/>
                        <a:t>Slogan is powerful, memorable, easy to understand; message is clearly integrated into the artwork.</a:t>
                      </a:r>
                    </a:p>
                  </a:txBody>
                  <a:tcPr/>
                </a:tc>
                <a:tc>
                  <a:txBody>
                    <a:bodyPr/>
                    <a:lstStyle/>
                    <a:p>
                      <a:r>
                        <a:rPr lang="en-US" dirty="0"/>
                        <a:t>20%</a:t>
                      </a:r>
                    </a:p>
                  </a:txBody>
                  <a:tcPr/>
                </a:tc>
                <a:extLst>
                  <a:ext uri="{0D108BD9-81ED-4DB2-BD59-A6C34878D82A}">
                    <a16:rowId xmlns:a16="http://schemas.microsoft.com/office/drawing/2014/main" val="331362967"/>
                  </a:ext>
                </a:extLst>
              </a:tr>
              <a:tr h="558478">
                <a:tc>
                  <a:txBody>
                    <a:bodyPr/>
                    <a:lstStyle/>
                    <a:p>
                      <a:r>
                        <a:rPr lang="en-US" dirty="0"/>
                        <a:t>4.Neatness &amp; Overall Presentation</a:t>
                      </a:r>
                    </a:p>
                  </a:txBody>
                  <a:tcPr/>
                </a:tc>
                <a:tc>
                  <a:txBody>
                    <a:bodyPr/>
                    <a:lstStyle/>
                    <a:p>
                      <a:r>
                        <a:rPr lang="en-US" dirty="0"/>
                        <a:t>Clean, well-organized layout, color harmony, readability, attention to detail ; no unnecessary clutter.</a:t>
                      </a:r>
                    </a:p>
                  </a:txBody>
                  <a:tcPr/>
                </a:tc>
                <a:tc>
                  <a:txBody>
                    <a:bodyPr/>
                    <a:lstStyle/>
                    <a:p>
                      <a:r>
                        <a:rPr lang="en-US" dirty="0"/>
                        <a:t>10%</a:t>
                      </a:r>
                    </a:p>
                  </a:txBody>
                  <a:tcPr/>
                </a:tc>
                <a:extLst>
                  <a:ext uri="{0D108BD9-81ED-4DB2-BD59-A6C34878D82A}">
                    <a16:rowId xmlns:a16="http://schemas.microsoft.com/office/drawing/2014/main" val="3630308922"/>
                  </a:ext>
                </a:extLst>
              </a:tr>
            </a:tbl>
          </a:graphicData>
        </a:graphic>
      </p:graphicFrame>
      <p:graphicFrame>
        <p:nvGraphicFramePr>
          <p:cNvPr id="15" name="Table 14">
            <a:extLst>
              <a:ext uri="{FF2B5EF4-FFF2-40B4-BE49-F238E27FC236}">
                <a16:creationId xmlns:a16="http://schemas.microsoft.com/office/drawing/2014/main" id="{A1EE6E9C-E2D0-BAA1-9E85-DCBF6461CAF6}"/>
              </a:ext>
            </a:extLst>
          </p:cNvPr>
          <p:cNvGraphicFramePr>
            <a:graphicFrameLocks noGrp="1"/>
          </p:cNvGraphicFramePr>
          <p:nvPr>
            <p:extLst>
              <p:ext uri="{D42A27DB-BD31-4B8C-83A1-F6EECF244321}">
                <p14:modId xmlns:p14="http://schemas.microsoft.com/office/powerpoint/2010/main" val="1240192838"/>
              </p:ext>
            </p:extLst>
          </p:nvPr>
        </p:nvGraphicFramePr>
        <p:xfrm>
          <a:off x="670560" y="714743"/>
          <a:ext cx="10850880" cy="2789498"/>
        </p:xfrm>
        <a:graphic>
          <a:graphicData uri="http://schemas.openxmlformats.org/drawingml/2006/table">
            <a:tbl>
              <a:tblPr firstRow="1" bandRow="1">
                <a:tableStyleId>{5C22544A-7EE6-4342-B048-85BDC9FD1C3A}</a:tableStyleId>
              </a:tblPr>
              <a:tblGrid>
                <a:gridCol w="3616960">
                  <a:extLst>
                    <a:ext uri="{9D8B030D-6E8A-4147-A177-3AD203B41FA5}">
                      <a16:colId xmlns:a16="http://schemas.microsoft.com/office/drawing/2014/main" val="2966772329"/>
                    </a:ext>
                  </a:extLst>
                </a:gridCol>
                <a:gridCol w="3616960">
                  <a:extLst>
                    <a:ext uri="{9D8B030D-6E8A-4147-A177-3AD203B41FA5}">
                      <a16:colId xmlns:a16="http://schemas.microsoft.com/office/drawing/2014/main" val="699629120"/>
                    </a:ext>
                  </a:extLst>
                </a:gridCol>
                <a:gridCol w="3616960">
                  <a:extLst>
                    <a:ext uri="{9D8B030D-6E8A-4147-A177-3AD203B41FA5}">
                      <a16:colId xmlns:a16="http://schemas.microsoft.com/office/drawing/2014/main" val="2631846138"/>
                    </a:ext>
                  </a:extLst>
                </a:gridCol>
              </a:tblGrid>
              <a:tr h="800389">
                <a:tc>
                  <a:txBody>
                    <a:bodyPr/>
                    <a:lstStyle/>
                    <a:p>
                      <a:r>
                        <a:rPr lang="en-US" dirty="0"/>
                        <a:t>Criteria</a:t>
                      </a:r>
                    </a:p>
                  </a:txBody>
                  <a:tcPr/>
                </a:tc>
                <a:tc>
                  <a:txBody>
                    <a:bodyPr/>
                    <a:lstStyle/>
                    <a:p>
                      <a:r>
                        <a:rPr lang="en-US" dirty="0"/>
                        <a:t>Description</a:t>
                      </a:r>
                    </a:p>
                  </a:txBody>
                  <a:tcPr/>
                </a:tc>
                <a:tc>
                  <a:txBody>
                    <a:bodyPr/>
                    <a:lstStyle/>
                    <a:p>
                      <a:r>
                        <a:rPr lang="en-US" dirty="0"/>
                        <a:t>Score</a:t>
                      </a:r>
                    </a:p>
                  </a:txBody>
                  <a:tcPr/>
                </a:tc>
                <a:extLst>
                  <a:ext uri="{0D108BD9-81ED-4DB2-BD59-A6C34878D82A}">
                    <a16:rowId xmlns:a16="http://schemas.microsoft.com/office/drawing/2014/main" val="218540209"/>
                  </a:ext>
                </a:extLst>
              </a:tr>
              <a:tr h="1005264">
                <a:tc>
                  <a:txBody>
                    <a:bodyPr/>
                    <a:lstStyle/>
                    <a:p>
                      <a:r>
                        <a:rPr lang="en-US" dirty="0"/>
                        <a:t>1.Creativity &amp; Originality</a:t>
                      </a:r>
                    </a:p>
                  </a:txBody>
                  <a:tcPr/>
                </a:tc>
                <a:tc>
                  <a:txBody>
                    <a:bodyPr/>
                    <a:lstStyle/>
                    <a:p>
                      <a:r>
                        <a:rPr lang="en-US" dirty="0"/>
                        <a:t>Uniqueness of concept, artistic style, fresh and imaginative approach, avoid copying or traced designs. </a:t>
                      </a:r>
                    </a:p>
                  </a:txBody>
                  <a:tcPr/>
                </a:tc>
                <a:tc>
                  <a:txBody>
                    <a:bodyPr/>
                    <a:lstStyle/>
                    <a:p>
                      <a:r>
                        <a:rPr lang="en-US" dirty="0"/>
                        <a:t>40%</a:t>
                      </a:r>
                    </a:p>
                  </a:txBody>
                  <a:tcPr/>
                </a:tc>
                <a:extLst>
                  <a:ext uri="{0D108BD9-81ED-4DB2-BD59-A6C34878D82A}">
                    <a16:rowId xmlns:a16="http://schemas.microsoft.com/office/drawing/2014/main" val="3940861806"/>
                  </a:ext>
                </a:extLst>
              </a:tr>
              <a:tr h="800389">
                <a:tc>
                  <a:txBody>
                    <a:bodyPr/>
                    <a:lstStyle/>
                    <a:p>
                      <a:r>
                        <a:rPr lang="en-US" dirty="0"/>
                        <a:t>2. Relevance to the Theme</a:t>
                      </a:r>
                    </a:p>
                  </a:txBody>
                  <a:tcPr/>
                </a:tc>
                <a:tc>
                  <a:txBody>
                    <a:bodyPr/>
                    <a:lstStyle/>
                    <a:p>
                      <a:r>
                        <a:rPr lang="en-US" dirty="0"/>
                        <a:t>Poster and slogan clearly reflect the theme.</a:t>
                      </a:r>
                    </a:p>
                  </a:txBody>
                  <a:tcPr/>
                </a:tc>
                <a:tc>
                  <a:txBody>
                    <a:bodyPr/>
                    <a:lstStyle/>
                    <a:p>
                      <a:r>
                        <a:rPr lang="en-US" dirty="0"/>
                        <a:t>30%</a:t>
                      </a:r>
                    </a:p>
                  </a:txBody>
                  <a:tcPr/>
                </a:tc>
                <a:extLst>
                  <a:ext uri="{0D108BD9-81ED-4DB2-BD59-A6C34878D82A}">
                    <a16:rowId xmlns:a16="http://schemas.microsoft.com/office/drawing/2014/main" val="2326913471"/>
                  </a:ext>
                </a:extLst>
              </a:tr>
            </a:tbl>
          </a:graphicData>
        </a:graphic>
      </p:graphicFrame>
      <p:sp>
        <p:nvSpPr>
          <p:cNvPr id="16" name="TextBox 15">
            <a:extLst>
              <a:ext uri="{FF2B5EF4-FFF2-40B4-BE49-F238E27FC236}">
                <a16:creationId xmlns:a16="http://schemas.microsoft.com/office/drawing/2014/main" id="{C55CC948-2B6B-A5A3-6102-2BA33218D087}"/>
              </a:ext>
            </a:extLst>
          </p:cNvPr>
          <p:cNvSpPr txBox="1"/>
          <p:nvPr/>
        </p:nvSpPr>
        <p:spPr>
          <a:xfrm>
            <a:off x="7857460" y="5730569"/>
            <a:ext cx="2213936" cy="369332"/>
          </a:xfrm>
          <a:prstGeom prst="rect">
            <a:avLst/>
          </a:prstGeom>
          <a:noFill/>
        </p:spPr>
        <p:txBody>
          <a:bodyPr wrap="square" rtlCol="0">
            <a:spAutoFit/>
          </a:bodyPr>
          <a:lstStyle/>
          <a:p>
            <a:pPr algn="l"/>
            <a:r>
              <a:rPr lang="en-US" dirty="0"/>
              <a:t>Total:100%</a:t>
            </a:r>
          </a:p>
        </p:txBody>
      </p:sp>
    </p:spTree>
    <p:extLst>
      <p:ext uri="{BB962C8B-B14F-4D97-AF65-F5344CB8AC3E}">
        <p14:creationId xmlns:p14="http://schemas.microsoft.com/office/powerpoint/2010/main" val="8195036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Aspect</Template>
  <TotalTime>52</TotalTime>
  <Words>850</Words>
  <Application>Microsoft Office PowerPoint</Application>
  <PresentationFormat>Widescreen</PresentationFormat>
  <Paragraphs>86</Paragraphs>
  <Slides>13</Slides>
  <Notes>8</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Aspect</vt:lpstr>
      <vt:lpstr>Movement Enhancement</vt:lpstr>
      <vt:lpstr>PowerPoint Presentation</vt:lpstr>
      <vt:lpstr>PowerPoint Presentation</vt:lpstr>
      <vt:lpstr>LEGAL BASIS </vt:lpstr>
      <vt:lpstr>PowerPoint Presentation</vt:lpstr>
      <vt:lpstr>  CORE CONCEPTS OF PHYSICAL EDUCATION</vt:lpstr>
      <vt:lpstr>What is PHYSICAL EDUCATION </vt:lpstr>
      <vt:lpstr>  </vt:lpstr>
      <vt:lpstr>Fitness</vt:lpstr>
      <vt:lpstr>Physical Education</vt:lpstr>
      <vt:lpstr>Aspects of Fitness </vt:lpstr>
      <vt:lpstr>Activity No. 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Movement Enhancement</dc:title>
  <dc:creator>japhethochave@outlook.com</dc:creator>
  <cp:lastModifiedBy>LETM26EC7.1-MARY ANN BOBIER</cp:lastModifiedBy>
  <cp:revision>8</cp:revision>
  <dcterms:created xsi:type="dcterms:W3CDTF">2020-09-16T05:13:02Z</dcterms:created>
  <dcterms:modified xsi:type="dcterms:W3CDTF">2026-08-19T03:26:58Z</dcterms:modified>
</cp:coreProperties>
</file>